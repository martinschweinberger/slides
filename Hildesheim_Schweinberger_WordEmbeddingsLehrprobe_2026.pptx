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8" r:id="rId4"/>
    <p:sldId id="259" r:id="rId5"/>
    <p:sldId id="263" r:id="rId6"/>
    <p:sldId id="269" r:id="rId7"/>
    <p:sldId id="270" r:id="rId8"/>
    <p:sldId id="257" r:id="rId9"/>
    <p:sldId id="260" r:id="rId10"/>
    <p:sldId id="264" r:id="rId11"/>
    <p:sldId id="267" r:id="rId12"/>
    <p:sldId id="262" r:id="rId13"/>
    <p:sldId id="271"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033D2-3CA9-4F2C-886B-FD2902047F1F}" v="101" dt="2026-01-17T15:10:40.7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6" autoAdjust="0"/>
    <p:restoredTop sz="94667" autoAdjust="0"/>
  </p:normalViewPr>
  <p:slideViewPr>
    <p:cSldViewPr snapToGrid="0">
      <p:cViewPr varScale="1">
        <p:scale>
          <a:sx n="107" d="100"/>
          <a:sy n="107" d="100"/>
        </p:scale>
        <p:origin x="878" y="302"/>
      </p:cViewPr>
      <p:guideLst/>
    </p:cSldViewPr>
  </p:slideViewPr>
  <p:outlineViewPr>
    <p:cViewPr>
      <p:scale>
        <a:sx n="33" d="100"/>
        <a:sy n="33" d="100"/>
      </p:scale>
      <p:origin x="0" y="-2155"/>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chweinberger" userId="90c3b6fdff4c5443" providerId="LiveId" clId="{16B467C6-3D5B-4F2A-A3D4-D5D9DBF197BE}"/>
    <pc:docChg chg="custSel addSld delSld modSld sldOrd">
      <pc:chgData name="Martin Schweinberger" userId="90c3b6fdff4c5443" providerId="LiveId" clId="{16B467C6-3D5B-4F2A-A3D4-D5D9DBF197BE}" dt="2026-01-17T15:10:45.447" v="2221" actId="1076"/>
      <pc:docMkLst>
        <pc:docMk/>
      </pc:docMkLst>
      <pc:sldChg chg="modSp mod">
        <pc:chgData name="Martin Schweinberger" userId="90c3b6fdff4c5443" providerId="LiveId" clId="{16B467C6-3D5B-4F2A-A3D4-D5D9DBF197BE}" dt="2026-01-15T09:53:23.559" v="152" actId="20577"/>
        <pc:sldMkLst>
          <pc:docMk/>
          <pc:sldMk cId="747622486" sldId="258"/>
        </pc:sldMkLst>
        <pc:spChg chg="mod">
          <ac:chgData name="Martin Schweinberger" userId="90c3b6fdff4c5443" providerId="LiveId" clId="{16B467C6-3D5B-4F2A-A3D4-D5D9DBF197BE}" dt="2026-01-15T09:53:23.559" v="152" actId="20577"/>
          <ac:spMkLst>
            <pc:docMk/>
            <pc:sldMk cId="747622486" sldId="258"/>
            <ac:spMk id="2" creationId="{8E12B67A-B77D-004F-A9ED-B9C87B76C745}"/>
          </ac:spMkLst>
        </pc:spChg>
        <pc:spChg chg="mod">
          <ac:chgData name="Martin Schweinberger" userId="90c3b6fdff4c5443" providerId="LiveId" clId="{16B467C6-3D5B-4F2A-A3D4-D5D9DBF197BE}" dt="2026-01-15T09:52:57.518" v="133" actId="20577"/>
          <ac:spMkLst>
            <pc:docMk/>
            <pc:sldMk cId="747622486" sldId="258"/>
            <ac:spMk id="3" creationId="{C35E6FAA-B5D0-7A19-0714-5185D0BC85F3}"/>
          </ac:spMkLst>
        </pc:spChg>
      </pc:sldChg>
      <pc:sldChg chg="modSp mod ord">
        <pc:chgData name="Martin Schweinberger" userId="90c3b6fdff4c5443" providerId="LiveId" clId="{16B467C6-3D5B-4F2A-A3D4-D5D9DBF197BE}" dt="2026-01-15T11:48:41.065" v="2076" actId="20577"/>
        <pc:sldMkLst>
          <pc:docMk/>
          <pc:sldMk cId="2545994261" sldId="259"/>
        </pc:sldMkLst>
        <pc:spChg chg="mod">
          <ac:chgData name="Martin Schweinberger" userId="90c3b6fdff4c5443" providerId="LiveId" clId="{16B467C6-3D5B-4F2A-A3D4-D5D9DBF197BE}" dt="2026-01-15T11:19:01.179" v="1376" actId="6549"/>
          <ac:spMkLst>
            <pc:docMk/>
            <pc:sldMk cId="2545994261" sldId="259"/>
            <ac:spMk id="2" creationId="{B814F264-D536-C1C0-A7E6-96153BDB47AF}"/>
          </ac:spMkLst>
        </pc:spChg>
        <pc:spChg chg="mod">
          <ac:chgData name="Martin Schweinberger" userId="90c3b6fdff4c5443" providerId="LiveId" clId="{16B467C6-3D5B-4F2A-A3D4-D5D9DBF197BE}" dt="2026-01-15T11:48:41.065" v="2076" actId="20577"/>
          <ac:spMkLst>
            <pc:docMk/>
            <pc:sldMk cId="2545994261" sldId="259"/>
            <ac:spMk id="3" creationId="{F945FF7C-F085-49AF-C988-9E1EE27E200E}"/>
          </ac:spMkLst>
        </pc:spChg>
      </pc:sldChg>
      <pc:sldChg chg="addSp delSp modSp mod">
        <pc:chgData name="Martin Schweinberger" userId="90c3b6fdff4c5443" providerId="LiveId" clId="{16B467C6-3D5B-4F2A-A3D4-D5D9DBF197BE}" dt="2026-01-15T11:50:02.986" v="2140" actId="20577"/>
        <pc:sldMkLst>
          <pc:docMk/>
          <pc:sldMk cId="1715540663" sldId="260"/>
        </pc:sldMkLst>
        <pc:spChg chg="mod">
          <ac:chgData name="Martin Schweinberger" userId="90c3b6fdff4c5443" providerId="LiveId" clId="{16B467C6-3D5B-4F2A-A3D4-D5D9DBF197BE}" dt="2026-01-15T11:50:02.986" v="2140" actId="20577"/>
          <ac:spMkLst>
            <pc:docMk/>
            <pc:sldMk cId="1715540663" sldId="260"/>
            <ac:spMk id="2" creationId="{CCB49D73-BD1C-1263-686A-28624BF443E1}"/>
          </ac:spMkLst>
        </pc:spChg>
        <pc:picChg chg="add">
          <ac:chgData name="Martin Schweinberger" userId="90c3b6fdff4c5443" providerId="LiveId" clId="{16B467C6-3D5B-4F2A-A3D4-D5D9DBF197BE}" dt="2026-01-15T10:33:39.983" v="938"/>
          <ac:picMkLst>
            <pc:docMk/>
            <pc:sldMk cId="1715540663" sldId="260"/>
            <ac:picMk id="2050" creationId="{6BF7BBE4-3D08-A230-F160-E9B520B64B4D}"/>
          </ac:picMkLst>
        </pc:picChg>
      </pc:sldChg>
      <pc:sldChg chg="modSp ord">
        <pc:chgData name="Martin Schweinberger" userId="90c3b6fdff4c5443" providerId="LiveId" clId="{16B467C6-3D5B-4F2A-A3D4-D5D9DBF197BE}" dt="2026-01-15T11:28:41.922" v="1663"/>
        <pc:sldMkLst>
          <pc:docMk/>
          <pc:sldMk cId="2785510872" sldId="262"/>
        </pc:sldMkLst>
        <pc:spChg chg="mod">
          <ac:chgData name="Martin Schweinberger" userId="90c3b6fdff4c5443" providerId="LiveId" clId="{16B467C6-3D5B-4F2A-A3D4-D5D9DBF197BE}" dt="2026-01-15T11:28:41.922" v="1663"/>
          <ac:spMkLst>
            <pc:docMk/>
            <pc:sldMk cId="2785510872" sldId="262"/>
            <ac:spMk id="2" creationId="{7BD3DD19-0906-6B6C-908B-9E93648FC6A1}"/>
          </ac:spMkLst>
        </pc:spChg>
      </pc:sldChg>
      <pc:sldChg chg="modSp add mod">
        <pc:chgData name="Martin Schweinberger" userId="90c3b6fdff4c5443" providerId="LiveId" clId="{16B467C6-3D5B-4F2A-A3D4-D5D9DBF197BE}" dt="2026-01-15T11:48:32.951" v="2074" actId="113"/>
        <pc:sldMkLst>
          <pc:docMk/>
          <pc:sldMk cId="4163928386" sldId="263"/>
        </pc:sldMkLst>
        <pc:spChg chg="mod">
          <ac:chgData name="Martin Schweinberger" userId="90c3b6fdff4c5443" providerId="LiveId" clId="{16B467C6-3D5B-4F2A-A3D4-D5D9DBF197BE}" dt="2026-01-15T11:19:06.260" v="1377"/>
          <ac:spMkLst>
            <pc:docMk/>
            <pc:sldMk cId="4163928386" sldId="263"/>
            <ac:spMk id="2" creationId="{D9A00EC3-6808-7AE2-A79A-327572DBC321}"/>
          </ac:spMkLst>
        </pc:spChg>
        <pc:spChg chg="mod">
          <ac:chgData name="Martin Schweinberger" userId="90c3b6fdff4c5443" providerId="LiveId" clId="{16B467C6-3D5B-4F2A-A3D4-D5D9DBF197BE}" dt="2026-01-15T11:48:32.951" v="2074" actId="113"/>
          <ac:spMkLst>
            <pc:docMk/>
            <pc:sldMk cId="4163928386" sldId="263"/>
            <ac:spMk id="3" creationId="{1B725C9E-5879-D101-C7F6-F67B9103575C}"/>
          </ac:spMkLst>
        </pc:spChg>
      </pc:sldChg>
      <pc:sldChg chg="modSp add mod">
        <pc:chgData name="Martin Schweinberger" userId="90c3b6fdff4c5443" providerId="LiveId" clId="{16B467C6-3D5B-4F2A-A3D4-D5D9DBF197BE}" dt="2026-01-15T11:20:46.567" v="1383" actId="20577"/>
        <pc:sldMkLst>
          <pc:docMk/>
          <pc:sldMk cId="2639961377" sldId="264"/>
        </pc:sldMkLst>
        <pc:spChg chg="mod">
          <ac:chgData name="Martin Schweinberger" userId="90c3b6fdff4c5443" providerId="LiveId" clId="{16B467C6-3D5B-4F2A-A3D4-D5D9DBF197BE}" dt="2026-01-15T11:20:46.567" v="1383" actId="20577"/>
          <ac:spMkLst>
            <pc:docMk/>
            <pc:sldMk cId="2639961377" sldId="264"/>
            <ac:spMk id="2" creationId="{FB11531C-EFDA-D821-FC37-FE8907378699}"/>
          </ac:spMkLst>
        </pc:spChg>
        <pc:spChg chg="mod">
          <ac:chgData name="Martin Schweinberger" userId="90c3b6fdff4c5443" providerId="LiveId" clId="{16B467C6-3D5B-4F2A-A3D4-D5D9DBF197BE}" dt="2026-01-15T11:19:44.635" v="1381" actId="20577"/>
          <ac:spMkLst>
            <pc:docMk/>
            <pc:sldMk cId="2639961377" sldId="264"/>
            <ac:spMk id="3" creationId="{38459097-7066-0674-2098-EDF1608163B5}"/>
          </ac:spMkLst>
        </pc:spChg>
      </pc:sldChg>
      <pc:sldChg chg="modSp add mod">
        <pc:chgData name="Martin Schweinberger" userId="90c3b6fdff4c5443" providerId="LiveId" clId="{16B467C6-3D5B-4F2A-A3D4-D5D9DBF197BE}" dt="2026-01-15T11:25:30.506" v="1575" actId="20577"/>
        <pc:sldMkLst>
          <pc:docMk/>
          <pc:sldMk cId="3656798453" sldId="267"/>
        </pc:sldMkLst>
        <pc:spChg chg="mod">
          <ac:chgData name="Martin Schweinberger" userId="90c3b6fdff4c5443" providerId="LiveId" clId="{16B467C6-3D5B-4F2A-A3D4-D5D9DBF197BE}" dt="2026-01-15T11:21:02.368" v="1391" actId="20577"/>
          <ac:spMkLst>
            <pc:docMk/>
            <pc:sldMk cId="3656798453" sldId="267"/>
            <ac:spMk id="2" creationId="{B57D176F-E3C9-FB00-53B8-CA1D28010A3E}"/>
          </ac:spMkLst>
        </pc:spChg>
        <pc:spChg chg="mod">
          <ac:chgData name="Martin Schweinberger" userId="90c3b6fdff4c5443" providerId="LiveId" clId="{16B467C6-3D5B-4F2A-A3D4-D5D9DBF197BE}" dt="2026-01-15T11:25:30.506" v="1575" actId="20577"/>
          <ac:spMkLst>
            <pc:docMk/>
            <pc:sldMk cId="3656798453" sldId="267"/>
            <ac:spMk id="3" creationId="{46CB4F48-3639-5568-4C3E-7E96037AD39E}"/>
          </ac:spMkLst>
        </pc:spChg>
      </pc:sldChg>
      <pc:sldChg chg="modSp add mod">
        <pc:chgData name="Martin Schweinberger" userId="90c3b6fdff4c5443" providerId="LiveId" clId="{16B467C6-3D5B-4F2A-A3D4-D5D9DBF197BE}" dt="2026-01-15T11:45:33.035" v="2043" actId="12"/>
        <pc:sldMkLst>
          <pc:docMk/>
          <pc:sldMk cId="3339059030" sldId="268"/>
        </pc:sldMkLst>
        <pc:spChg chg="mod">
          <ac:chgData name="Martin Schweinberger" userId="90c3b6fdff4c5443" providerId="LiveId" clId="{16B467C6-3D5B-4F2A-A3D4-D5D9DBF197BE}" dt="2026-01-15T11:38:19.490" v="1667"/>
          <ac:spMkLst>
            <pc:docMk/>
            <pc:sldMk cId="3339059030" sldId="268"/>
            <ac:spMk id="2" creationId="{8A05F493-0128-C67D-6CC5-C6475251E18B}"/>
          </ac:spMkLst>
        </pc:spChg>
        <pc:spChg chg="mod">
          <ac:chgData name="Martin Schweinberger" userId="90c3b6fdff4c5443" providerId="LiveId" clId="{16B467C6-3D5B-4F2A-A3D4-D5D9DBF197BE}" dt="2026-01-15T11:45:33.035" v="2043" actId="12"/>
          <ac:spMkLst>
            <pc:docMk/>
            <pc:sldMk cId="3339059030" sldId="268"/>
            <ac:spMk id="3" creationId="{E715B10B-B33C-A2BE-500B-76DCD39B2A89}"/>
          </ac:spMkLst>
        </pc:spChg>
      </pc:sldChg>
      <pc:sldChg chg="addSp modSp new">
        <pc:chgData name="Martin Schweinberger" userId="90c3b6fdff4c5443" providerId="LiveId" clId="{16B467C6-3D5B-4F2A-A3D4-D5D9DBF197BE}" dt="2026-01-15T11:50:52.669" v="2145"/>
        <pc:sldMkLst>
          <pc:docMk/>
          <pc:sldMk cId="3922536188" sldId="269"/>
        </pc:sldMkLst>
        <pc:spChg chg="mod">
          <ac:chgData name="Martin Schweinberger" userId="90c3b6fdff4c5443" providerId="LiveId" clId="{16B467C6-3D5B-4F2A-A3D4-D5D9DBF197BE}" dt="2026-01-15T11:50:38.405" v="2143"/>
          <ac:spMkLst>
            <pc:docMk/>
            <pc:sldMk cId="3922536188" sldId="269"/>
            <ac:spMk id="2" creationId="{233EB8DE-29C5-E677-4194-262A27750B63}"/>
          </ac:spMkLst>
        </pc:spChg>
        <pc:spChg chg="mod">
          <ac:chgData name="Martin Schweinberger" userId="90c3b6fdff4c5443" providerId="LiveId" clId="{16B467C6-3D5B-4F2A-A3D4-D5D9DBF197BE}" dt="2026-01-15T11:50:43.824" v="2144"/>
          <ac:spMkLst>
            <pc:docMk/>
            <pc:sldMk cId="3922536188" sldId="269"/>
            <ac:spMk id="3" creationId="{067CC0D5-ECA4-C966-B89D-ADB828C0A5B2}"/>
          </ac:spMkLst>
        </pc:spChg>
        <pc:graphicFrameChg chg="add mod">
          <ac:chgData name="Martin Schweinberger" userId="90c3b6fdff4c5443" providerId="LiveId" clId="{16B467C6-3D5B-4F2A-A3D4-D5D9DBF197BE}" dt="2026-01-15T11:50:52.669" v="2145"/>
          <ac:graphicFrameMkLst>
            <pc:docMk/>
            <pc:sldMk cId="3922536188" sldId="269"/>
            <ac:graphicFrameMk id="5" creationId="{CA365AAD-9878-273D-3AE2-FDA407CEB5A9}"/>
          </ac:graphicFrameMkLst>
        </pc:graphicFrameChg>
        <pc:picChg chg="add mod">
          <ac:chgData name="Martin Schweinberger" userId="90c3b6fdff4c5443" providerId="LiveId" clId="{16B467C6-3D5B-4F2A-A3D4-D5D9DBF197BE}" dt="2026-01-15T11:50:33.278" v="2142"/>
          <ac:picMkLst>
            <pc:docMk/>
            <pc:sldMk cId="3922536188" sldId="269"/>
            <ac:picMk id="4" creationId="{D8071899-A7F1-2B27-262D-F8240C0AC1DF}"/>
          </ac:picMkLst>
        </pc:picChg>
      </pc:sldChg>
      <pc:sldChg chg="addSp modSp new mod">
        <pc:chgData name="Martin Schweinberger" userId="90c3b6fdff4c5443" providerId="LiveId" clId="{16B467C6-3D5B-4F2A-A3D4-D5D9DBF197BE}" dt="2026-01-15T11:51:27.339" v="2156" actId="27636"/>
        <pc:sldMkLst>
          <pc:docMk/>
          <pc:sldMk cId="45090095" sldId="270"/>
        </pc:sldMkLst>
        <pc:spChg chg="mod">
          <ac:chgData name="Martin Schweinberger" userId="90c3b6fdff4c5443" providerId="LiveId" clId="{16B467C6-3D5B-4F2A-A3D4-D5D9DBF197BE}" dt="2026-01-15T11:51:08.294" v="2149"/>
          <ac:spMkLst>
            <pc:docMk/>
            <pc:sldMk cId="45090095" sldId="270"/>
            <ac:spMk id="2" creationId="{189E95F7-2E92-1674-7B62-84C31E818D50}"/>
          </ac:spMkLst>
        </pc:spChg>
        <pc:spChg chg="mod">
          <ac:chgData name="Martin Schweinberger" userId="90c3b6fdff4c5443" providerId="LiveId" clId="{16B467C6-3D5B-4F2A-A3D4-D5D9DBF197BE}" dt="2026-01-15T11:51:27.339" v="2156" actId="27636"/>
          <ac:spMkLst>
            <pc:docMk/>
            <pc:sldMk cId="45090095" sldId="270"/>
            <ac:spMk id="3" creationId="{6D52ACC4-3AF6-9BB1-037C-CB8A53762A45}"/>
          </ac:spMkLst>
        </pc:spChg>
        <pc:picChg chg="add mod">
          <ac:chgData name="Martin Schweinberger" userId="90c3b6fdff4c5443" providerId="LiveId" clId="{16B467C6-3D5B-4F2A-A3D4-D5D9DBF197BE}" dt="2026-01-15T11:51:03.535" v="2148"/>
          <ac:picMkLst>
            <pc:docMk/>
            <pc:sldMk cId="45090095" sldId="270"/>
            <ac:picMk id="4" creationId="{EA8EC399-0AD4-AA98-A506-755E68947C2F}"/>
          </ac:picMkLst>
        </pc:picChg>
      </pc:sldChg>
      <pc:sldChg chg="addSp delSp modSp add mod">
        <pc:chgData name="Martin Schweinberger" userId="90c3b6fdff4c5443" providerId="LiveId" clId="{16B467C6-3D5B-4F2A-A3D4-D5D9DBF197BE}" dt="2026-01-17T15:10:45.447" v="2221" actId="1076"/>
        <pc:sldMkLst>
          <pc:docMk/>
          <pc:sldMk cId="4179351054" sldId="271"/>
        </pc:sldMkLst>
        <pc:spChg chg="mod">
          <ac:chgData name="Martin Schweinberger" userId="90c3b6fdff4c5443" providerId="LiveId" clId="{16B467C6-3D5B-4F2A-A3D4-D5D9DBF197BE}" dt="2026-01-17T15:07:52.539" v="2200" actId="6549"/>
          <ac:spMkLst>
            <pc:docMk/>
            <pc:sldMk cId="4179351054" sldId="271"/>
            <ac:spMk id="2" creationId="{D22F7390-32A4-D059-E94A-AD945937057F}"/>
          </ac:spMkLst>
        </pc:spChg>
        <pc:picChg chg="mod">
          <ac:chgData name="Martin Schweinberger" userId="90c3b6fdff4c5443" providerId="LiveId" clId="{16B467C6-3D5B-4F2A-A3D4-D5D9DBF197BE}" dt="2026-01-17T15:10:40.739" v="2220" actId="166"/>
          <ac:picMkLst>
            <pc:docMk/>
            <pc:sldMk cId="4179351054" sldId="271"/>
            <ac:picMk id="4" creationId="{C16F059B-1344-8204-0966-50F5F6B659C5}"/>
          </ac:picMkLst>
        </pc:picChg>
        <pc:picChg chg="del">
          <ac:chgData name="Martin Schweinberger" userId="90c3b6fdff4c5443" providerId="LiveId" clId="{16B467C6-3D5B-4F2A-A3D4-D5D9DBF197BE}" dt="2026-01-17T15:07:25.523" v="2192" actId="478"/>
          <ac:picMkLst>
            <pc:docMk/>
            <pc:sldMk cId="4179351054" sldId="271"/>
            <ac:picMk id="5" creationId="{857972FB-462F-90AB-786A-4215B5821E73}"/>
          </ac:picMkLst>
        </pc:picChg>
        <pc:picChg chg="add mod">
          <ac:chgData name="Martin Schweinberger" userId="90c3b6fdff4c5443" providerId="LiveId" clId="{16B467C6-3D5B-4F2A-A3D4-D5D9DBF197BE}" dt="2026-01-17T15:10:45.447" v="2221" actId="1076"/>
          <ac:picMkLst>
            <pc:docMk/>
            <pc:sldMk cId="4179351054" sldId="271"/>
            <ac:picMk id="6" creationId="{FCE39AB3-8165-7AB7-F40D-239BC81BDFCB}"/>
          </ac:picMkLst>
        </pc:picChg>
      </pc:sldChg>
      <pc:sldChg chg="addSp delSp modSp add mod">
        <pc:chgData name="Martin Schweinberger" userId="90c3b6fdff4c5443" providerId="LiveId" clId="{16B467C6-3D5B-4F2A-A3D4-D5D9DBF197BE}" dt="2026-01-17T15:10:04.725" v="2218" actId="1076"/>
        <pc:sldMkLst>
          <pc:docMk/>
          <pc:sldMk cId="628969876" sldId="272"/>
        </pc:sldMkLst>
        <pc:spChg chg="mod">
          <ac:chgData name="Martin Schweinberger" userId="90c3b6fdff4c5443" providerId="LiveId" clId="{16B467C6-3D5B-4F2A-A3D4-D5D9DBF197BE}" dt="2026-01-17T15:09:41.553" v="2212" actId="20577"/>
          <ac:spMkLst>
            <pc:docMk/>
            <pc:sldMk cId="628969876" sldId="272"/>
            <ac:spMk id="2" creationId="{55493790-FAA3-B045-8AC8-BF52D0724722}"/>
          </ac:spMkLst>
        </pc:spChg>
        <pc:picChg chg="mod">
          <ac:chgData name="Martin Schweinberger" userId="90c3b6fdff4c5443" providerId="LiveId" clId="{16B467C6-3D5B-4F2A-A3D4-D5D9DBF197BE}" dt="2026-01-17T15:10:00.611" v="2217" actId="166"/>
          <ac:picMkLst>
            <pc:docMk/>
            <pc:sldMk cId="628969876" sldId="272"/>
            <ac:picMk id="4" creationId="{CEB4AA64-7157-4CB5-A7F3-9FA822BEC6F0}"/>
          </ac:picMkLst>
        </pc:picChg>
        <pc:picChg chg="add mod">
          <ac:chgData name="Martin Schweinberger" userId="90c3b6fdff4c5443" providerId="LiveId" clId="{16B467C6-3D5B-4F2A-A3D4-D5D9DBF197BE}" dt="2026-01-17T15:10:04.725" v="2218" actId="1076"/>
          <ac:picMkLst>
            <pc:docMk/>
            <pc:sldMk cId="628969876" sldId="272"/>
            <ac:picMk id="5" creationId="{689A12F3-71E9-DA43-1DD4-04EA5725C6B8}"/>
          </ac:picMkLst>
        </pc:picChg>
        <pc:picChg chg="del">
          <ac:chgData name="Martin Schweinberger" userId="90c3b6fdff4c5443" providerId="LiveId" clId="{16B467C6-3D5B-4F2A-A3D4-D5D9DBF197BE}" dt="2026-01-17T15:08:54.262" v="2203" actId="478"/>
          <ac:picMkLst>
            <pc:docMk/>
            <pc:sldMk cId="628969876" sldId="272"/>
            <ac:picMk id="6" creationId="{D51B6254-9DD9-B210-7502-CEC5265E3B1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C123B-7D5D-3B03-56E0-5B0B204EC8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F0F69FC-3089-07B5-C19D-F736EFDD88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5DE5A4-7CA3-A9CC-EF95-AE97EDEBA2C5}"/>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03D00070-92FA-7F2D-5B6D-322D2A60222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3341807-7CDD-37A1-992F-C83A01D4E967}"/>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505733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25D9-9ED4-564F-5A7D-0906EB0C1D1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3DE78D3-5B46-B234-7C85-2AC46CAC81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77D3877-F98F-C23F-76A8-E145D5786228}"/>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2BFF94E3-B3A9-0CDA-9648-DECF709596A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299A73C-B681-70A7-D650-943F7B9B348A}"/>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1802585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69E2-BDEE-9069-1FDC-7AF027E506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FBD1B0E-C637-5860-D48B-AF70EDCC7C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2D8C03-9FFC-238B-1EA3-B8A4BE3B4449}"/>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F1236F2D-00DB-08FF-D0D9-2FC84159E58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36AF691-A72E-8C05-C282-ED8A564ED271}"/>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2919202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45CD6-9F37-4280-7CAA-7C46D2505CA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623FB8-362A-C936-403E-68C5D0E7C4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5FA86737-3F71-CF83-B7CA-C65EEA806A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48B8F67-D62C-DA3B-CA2B-FE8C7EAD7AF6}"/>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6" name="Footer Placeholder 5">
            <a:extLst>
              <a:ext uri="{FF2B5EF4-FFF2-40B4-BE49-F238E27FC236}">
                <a16:creationId xmlns:a16="http://schemas.microsoft.com/office/drawing/2014/main" id="{4937AD79-95E4-E5FB-E43A-82484F3410E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A45EB54-9F5B-4B0B-010B-13810F4B3ED2}"/>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1752297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95D66-59B3-2CCD-9783-8D7D968FAC8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8F19DAA-8B58-21BA-6E80-F21CA1196B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A49623-7887-22F9-4C69-834CA10369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0269A5E-28AC-ED82-0A9A-E0E130F8B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1F6C6D-4935-4E94-70EB-B9A9235022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7456C8D-A461-1511-D077-C475DE1BC00D}"/>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8" name="Footer Placeholder 7">
            <a:extLst>
              <a:ext uri="{FF2B5EF4-FFF2-40B4-BE49-F238E27FC236}">
                <a16:creationId xmlns:a16="http://schemas.microsoft.com/office/drawing/2014/main" id="{2633BA95-269B-C75E-C13C-F37C099344BE}"/>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2E22CC5E-DC82-6247-0E59-3E182EA232B6}"/>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2059911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1554B-7B57-18E3-F845-861A6576ED3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F883EA1-8AB4-81A6-966B-CFBA9E20DA68}"/>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4" name="Footer Placeholder 3">
            <a:extLst>
              <a:ext uri="{FF2B5EF4-FFF2-40B4-BE49-F238E27FC236}">
                <a16:creationId xmlns:a16="http://schemas.microsoft.com/office/drawing/2014/main" id="{1CEFF26A-83D5-38E4-D4F7-4E296ED2CD7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3E8571A0-6577-E3D7-22E8-C34244AC494A}"/>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4140106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A71800-78AE-36A4-0904-6E0C2ED83094}"/>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3" name="Footer Placeholder 2">
            <a:extLst>
              <a:ext uri="{FF2B5EF4-FFF2-40B4-BE49-F238E27FC236}">
                <a16:creationId xmlns:a16="http://schemas.microsoft.com/office/drawing/2014/main" id="{978B8E9D-AF9E-D84F-587F-5A9CE3F45592}"/>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E4FF75F-F86A-4E0A-6A07-EF1FFB27DD54}"/>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3188209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D7B69-A8D7-E10D-14DA-55BDB390A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BE156C3-626A-1D72-4328-71EE8124A0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7854F85-32AB-65DF-D041-52F11CEDB8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935B82-5DB9-DCB3-ED97-6DAE4235037D}"/>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6" name="Footer Placeholder 5">
            <a:extLst>
              <a:ext uri="{FF2B5EF4-FFF2-40B4-BE49-F238E27FC236}">
                <a16:creationId xmlns:a16="http://schemas.microsoft.com/office/drawing/2014/main" id="{5EBB8E17-226C-90FE-7670-E3B572D66CD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1E9B62D-534D-607E-0D35-876CCCEEC1CB}"/>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3107892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3AEB-919E-391D-AF45-2D9ADD206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FC64F78-A591-A568-C5C6-43A75A54A0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82FB09A1-4DB7-816D-F915-9D43441A2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009B4-8306-4B4D-5F05-6AF60638E0ED}"/>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6" name="Footer Placeholder 5">
            <a:extLst>
              <a:ext uri="{FF2B5EF4-FFF2-40B4-BE49-F238E27FC236}">
                <a16:creationId xmlns:a16="http://schemas.microsoft.com/office/drawing/2014/main" id="{8D006768-3958-6585-3482-7D33607FED1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AE9EDA0-A2C9-2705-A7C1-3DFACB8982FD}"/>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1470751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6BBB-CDF1-864A-8730-F914CED06A9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B7D8C66-6216-D31D-3C0D-8F4BE1CFB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9F60C9-AC94-4392-B072-30A5CB65ACAF}"/>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C8E50FEE-41D8-FFF1-E71F-B08FE80C4E7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20AAAE0-99EF-46C3-A2A6-CFA61D847C76}"/>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4273185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694198-5345-4494-CD6A-BB0C3FF0ED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314E6BF-D040-9C25-222D-7D139CFED4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88A81E1-1909-820D-3851-A431F1E65A22}"/>
              </a:ext>
            </a:extLst>
          </p:cNvPr>
          <p:cNvSpPr>
            <a:spLocks noGrp="1"/>
          </p:cNvSpPr>
          <p:nvPr>
            <p:ph type="dt" sz="half" idx="10"/>
          </p:nvPr>
        </p:nvSpPr>
        <p:spPr/>
        <p:txBody>
          <a:body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7DC5F618-3159-3BC6-AD5E-A1A4395388A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AB5F1FC-CB86-2F60-DBF9-FD64806A759E}"/>
              </a:ext>
            </a:extLst>
          </p:cNvPr>
          <p:cNvSpPr>
            <a:spLocks noGrp="1"/>
          </p:cNvSpPr>
          <p:nvPr>
            <p:ph type="sldNum" sz="quarter" idx="12"/>
          </p:nvPr>
        </p:nvSpPr>
        <p:spPr/>
        <p:txBody>
          <a:bodyPr/>
          <a:lstStyle/>
          <a:p>
            <a:fld id="{AEE8DD4A-3C5B-4248-9B7D-5694BF0FCEBC}" type="slidenum">
              <a:rPr lang="en-AU" smtClean="0"/>
              <a:t>‹#›</a:t>
            </a:fld>
            <a:endParaRPr lang="en-AU"/>
          </a:p>
        </p:txBody>
      </p:sp>
    </p:spTree>
    <p:extLst>
      <p:ext uri="{BB962C8B-B14F-4D97-AF65-F5344CB8AC3E}">
        <p14:creationId xmlns:p14="http://schemas.microsoft.com/office/powerpoint/2010/main" val="3681806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21F8B8-3E25-A9D8-80C4-AE398077C1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DF47375-AEB1-30EC-576E-E01194DA70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DBE4356-2F23-43AA-6DA3-08D08FE27E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2F9C24-DDFF-4E31-A489-F4034B433D9F}" type="datetimeFigureOut">
              <a:rPr lang="en-AU" smtClean="0"/>
              <a:t>17/01/2026</a:t>
            </a:fld>
            <a:endParaRPr lang="en-AU"/>
          </a:p>
        </p:txBody>
      </p:sp>
      <p:sp>
        <p:nvSpPr>
          <p:cNvPr id="5" name="Footer Placeholder 4">
            <a:extLst>
              <a:ext uri="{FF2B5EF4-FFF2-40B4-BE49-F238E27FC236}">
                <a16:creationId xmlns:a16="http://schemas.microsoft.com/office/drawing/2014/main" id="{5CD9D719-960D-A45B-6515-93FA36C6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A62A5938-3F81-3AB5-A155-6C357C51F8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E8DD4A-3C5B-4248-9B7D-5694BF0FCEBC}" type="slidenum">
              <a:rPr lang="en-AU" smtClean="0"/>
              <a:t>‹#›</a:t>
            </a:fld>
            <a:endParaRPr lang="en-AU"/>
          </a:p>
        </p:txBody>
      </p:sp>
    </p:spTree>
    <p:extLst>
      <p:ext uri="{BB962C8B-B14F-4D97-AF65-F5344CB8AC3E}">
        <p14:creationId xmlns:p14="http://schemas.microsoft.com/office/powerpoint/2010/main" val="418021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90079-DF56-B497-C558-DBED6F9308C2}"/>
              </a:ext>
            </a:extLst>
          </p:cNvPr>
          <p:cNvSpPr>
            <a:spLocks noGrp="1"/>
          </p:cNvSpPr>
          <p:nvPr>
            <p:ph type="ctrTitle"/>
          </p:nvPr>
        </p:nvSpPr>
        <p:spPr>
          <a:xfrm>
            <a:off x="1053548" y="1292086"/>
            <a:ext cx="10078278" cy="3995529"/>
          </a:xfrm>
        </p:spPr>
        <p:txBody>
          <a:bodyPr>
            <a:normAutofit/>
          </a:bodyPr>
          <a:lstStyle/>
          <a:p>
            <a:r>
              <a:rPr lang="en-AU" dirty="0"/>
              <a:t>Word Embeddings:</a:t>
            </a:r>
            <a:br>
              <a:rPr lang="en-AU" dirty="0"/>
            </a:br>
            <a:r>
              <a:rPr lang="en-AU" dirty="0"/>
              <a:t>How AI Learns Word Meanings</a:t>
            </a:r>
            <a:br>
              <a:rPr lang="en-AU" dirty="0"/>
            </a:br>
            <a:r>
              <a:rPr lang="en-AU" sz="2700" dirty="0"/>
              <a:t>Linguistics II – </a:t>
            </a:r>
            <a:r>
              <a:rPr lang="en-AU" sz="2700" dirty="0" err="1"/>
              <a:t>Aufbaumodul</a:t>
            </a:r>
            <a:r>
              <a:rPr lang="en-AU" sz="2700" dirty="0"/>
              <a:t> 1</a:t>
            </a:r>
            <a:br>
              <a:rPr lang="en-AU" sz="2700" dirty="0"/>
            </a:br>
            <a:endParaRPr lang="en-AU" dirty="0"/>
          </a:p>
        </p:txBody>
      </p:sp>
      <p:sp>
        <p:nvSpPr>
          <p:cNvPr id="3" name="Subtitle 2">
            <a:extLst>
              <a:ext uri="{FF2B5EF4-FFF2-40B4-BE49-F238E27FC236}">
                <a16:creationId xmlns:a16="http://schemas.microsoft.com/office/drawing/2014/main" id="{11185EB3-A92A-44F9-4577-B2B9AD6365FB}"/>
              </a:ext>
            </a:extLst>
          </p:cNvPr>
          <p:cNvSpPr>
            <a:spLocks noGrp="1"/>
          </p:cNvSpPr>
          <p:nvPr>
            <p:ph type="subTitle" idx="1"/>
          </p:nvPr>
        </p:nvSpPr>
        <p:spPr>
          <a:xfrm>
            <a:off x="1524000" y="5287616"/>
            <a:ext cx="9144000" cy="985523"/>
          </a:xfrm>
        </p:spPr>
        <p:txBody>
          <a:bodyPr/>
          <a:lstStyle/>
          <a:p>
            <a:r>
              <a:rPr lang="en-AU" dirty="0"/>
              <a:t>Dr Martin Schweinberger</a:t>
            </a:r>
          </a:p>
        </p:txBody>
      </p:sp>
      <p:pic>
        <p:nvPicPr>
          <p:cNvPr id="1026" name="Picture 2">
            <a:extLst>
              <a:ext uri="{FF2B5EF4-FFF2-40B4-BE49-F238E27FC236}">
                <a16:creationId xmlns:a16="http://schemas.microsoft.com/office/drawing/2014/main" id="{440B6946-E3DD-3FDC-0D09-196CBED45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179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04E14-6147-9573-A204-248370966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2B67A-B77D-004F-A9ED-B9C87B76C745}"/>
              </a:ext>
            </a:extLst>
          </p:cNvPr>
          <p:cNvSpPr>
            <a:spLocks noGrp="1"/>
          </p:cNvSpPr>
          <p:nvPr>
            <p:ph type="title"/>
          </p:nvPr>
        </p:nvSpPr>
        <p:spPr/>
        <p:txBody>
          <a:bodyPr/>
          <a:lstStyle/>
          <a:p>
            <a:r>
              <a:rPr lang="de-DE" dirty="0"/>
              <a:t>Activity 1: Semantic Similarity</a:t>
            </a:r>
            <a:endParaRPr lang="en-AU" dirty="0"/>
          </a:p>
        </p:txBody>
      </p:sp>
      <p:sp>
        <p:nvSpPr>
          <p:cNvPr id="3" name="Content Placeholder 2">
            <a:extLst>
              <a:ext uri="{FF2B5EF4-FFF2-40B4-BE49-F238E27FC236}">
                <a16:creationId xmlns:a16="http://schemas.microsoft.com/office/drawing/2014/main" id="{C35E6FAA-B5D0-7A19-0714-5185D0BC85F3}"/>
              </a:ext>
            </a:extLst>
          </p:cNvPr>
          <p:cNvSpPr>
            <a:spLocks noGrp="1"/>
          </p:cNvSpPr>
          <p:nvPr>
            <p:ph idx="1"/>
          </p:nvPr>
        </p:nvSpPr>
        <p:spPr/>
        <p:txBody>
          <a:bodyPr>
            <a:normAutofit/>
          </a:bodyPr>
          <a:lstStyle/>
          <a:p>
            <a:pPr marL="0" indent="0">
              <a:buNone/>
            </a:pPr>
            <a:r>
              <a:rPr lang="en-AU" dirty="0"/>
              <a:t>YOUR TASK (Time: 2 minutes ) </a:t>
            </a:r>
          </a:p>
          <a:p>
            <a:pPr marL="0" indent="0">
              <a:buNone/>
            </a:pPr>
            <a:r>
              <a:rPr lang="en-US" dirty="0"/>
              <a:t>You will now receive word cards with 8 English words.</a:t>
            </a:r>
          </a:p>
          <a:p>
            <a:pPr marL="0" indent="0">
              <a:buNone/>
            </a:pPr>
            <a:br>
              <a:rPr lang="en-US" dirty="0"/>
            </a:br>
            <a:r>
              <a:rPr lang="en-US" dirty="0"/>
              <a:t>Your task is to position yourselves in the room so that semantically similar words are close to each other.</a:t>
            </a:r>
          </a:p>
          <a:p>
            <a:pPr marL="0" indent="0">
              <a:buNone/>
            </a:pPr>
            <a:br>
              <a:rPr lang="en-US" dirty="0"/>
            </a:br>
            <a:r>
              <a:rPr lang="en-AU" dirty="0"/>
              <a:t>Once you have arranged yourselves</a:t>
            </a:r>
            <a:r>
              <a:rPr lang="en-US" dirty="0"/>
              <a:t>, discuss: </a:t>
            </a:r>
          </a:p>
          <a:p>
            <a:pPr>
              <a:buFont typeface="Courier New" panose="02070309020205020404" pitchFamily="49" charset="0"/>
              <a:buChar char="o"/>
            </a:pPr>
            <a:r>
              <a:rPr lang="en-US" dirty="0"/>
              <a:t>What criteria are you using to arrange the words? </a:t>
            </a:r>
          </a:p>
          <a:p>
            <a:pPr>
              <a:buFont typeface="Courier New" panose="02070309020205020404" pitchFamily="49" charset="0"/>
              <a:buChar char="o"/>
            </a:pPr>
            <a:r>
              <a:rPr lang="en-US" dirty="0"/>
              <a:t>What makes these words similar or different?</a:t>
            </a:r>
            <a:endParaRPr lang="en-AU" dirty="0"/>
          </a:p>
          <a:p>
            <a:pPr marL="0" indent="0">
              <a:buNone/>
            </a:pPr>
            <a:endParaRPr lang="en-AU" dirty="0"/>
          </a:p>
        </p:txBody>
      </p:sp>
      <p:pic>
        <p:nvPicPr>
          <p:cNvPr id="4" name="Picture 2">
            <a:extLst>
              <a:ext uri="{FF2B5EF4-FFF2-40B4-BE49-F238E27FC236}">
                <a16:creationId xmlns:a16="http://schemas.microsoft.com/office/drawing/2014/main" id="{F3B5D271-AD6E-0F20-E9AC-3EEC2C7A3D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622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A21A7-B88E-17D4-19B4-D0AFE78A4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5F493-0128-C67D-6CC5-C6475251E18B}"/>
              </a:ext>
            </a:extLst>
          </p:cNvPr>
          <p:cNvSpPr>
            <a:spLocks noGrp="1"/>
          </p:cNvSpPr>
          <p:nvPr>
            <p:ph type="title"/>
          </p:nvPr>
        </p:nvSpPr>
        <p:spPr/>
        <p:txBody>
          <a:bodyPr/>
          <a:lstStyle/>
          <a:p>
            <a:r>
              <a:rPr lang="de-DE" dirty="0"/>
              <a:t>Activity 2: Text Analysis</a:t>
            </a:r>
            <a:endParaRPr lang="en-AU" dirty="0"/>
          </a:p>
        </p:txBody>
      </p:sp>
      <p:sp>
        <p:nvSpPr>
          <p:cNvPr id="3" name="Content Placeholder 2">
            <a:extLst>
              <a:ext uri="{FF2B5EF4-FFF2-40B4-BE49-F238E27FC236}">
                <a16:creationId xmlns:a16="http://schemas.microsoft.com/office/drawing/2014/main" id="{E715B10B-B33C-A2BE-500B-76DCD39B2A89}"/>
              </a:ext>
            </a:extLst>
          </p:cNvPr>
          <p:cNvSpPr>
            <a:spLocks noGrp="1"/>
          </p:cNvSpPr>
          <p:nvPr>
            <p:ph idx="1"/>
          </p:nvPr>
        </p:nvSpPr>
        <p:spPr/>
        <p:txBody>
          <a:bodyPr>
            <a:normAutofit/>
          </a:bodyPr>
          <a:lstStyle/>
          <a:p>
            <a:pPr marL="0" indent="0">
              <a:buNone/>
            </a:pPr>
            <a:r>
              <a:rPr lang="en-AU" dirty="0"/>
              <a:t>YOUR TASK (Think → Pair → Share)</a:t>
            </a:r>
          </a:p>
          <a:p>
            <a:pPr marL="0" indent="0">
              <a:buNone/>
            </a:pPr>
            <a:r>
              <a:rPr lang="en-US" dirty="0"/>
              <a:t>I will show a text on the next slide. </a:t>
            </a:r>
          </a:p>
          <a:p>
            <a:pPr>
              <a:buFont typeface="Courier New" panose="02070309020205020404" pitchFamily="49" charset="0"/>
              <a:buChar char="o"/>
            </a:pPr>
            <a:r>
              <a:rPr lang="en-US" dirty="0"/>
              <a:t>Read the text and check which words co-occur with our terms from Activity 1.</a:t>
            </a:r>
          </a:p>
          <a:p>
            <a:pPr>
              <a:buFont typeface="Courier New" panose="02070309020205020404" pitchFamily="49" charset="0"/>
              <a:buChar char="o"/>
            </a:pPr>
            <a:r>
              <a:rPr lang="en-US" dirty="0"/>
              <a:t>Form pairs and discuss how these context words are related to “meaning”.</a:t>
            </a:r>
          </a:p>
          <a:p>
            <a:pPr>
              <a:buFont typeface="Courier New" panose="02070309020205020404" pitchFamily="49" charset="0"/>
              <a:buChar char="o"/>
            </a:pPr>
            <a:r>
              <a:rPr lang="en-AU" dirty="0"/>
              <a:t>Share your observations and ideas with the group.</a:t>
            </a:r>
          </a:p>
        </p:txBody>
      </p:sp>
      <p:pic>
        <p:nvPicPr>
          <p:cNvPr id="4" name="Picture 2">
            <a:extLst>
              <a:ext uri="{FF2B5EF4-FFF2-40B4-BE49-F238E27FC236}">
                <a16:creationId xmlns:a16="http://schemas.microsoft.com/office/drawing/2014/main" id="{38B941FF-4B44-66A4-6E52-ED07AC965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9059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B385-58BA-33F2-A0F9-359255F94D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4F264-D536-C1C0-A7E6-96153BDB47AF}"/>
              </a:ext>
            </a:extLst>
          </p:cNvPr>
          <p:cNvSpPr>
            <a:spLocks noGrp="1"/>
          </p:cNvSpPr>
          <p:nvPr>
            <p:ph type="title"/>
          </p:nvPr>
        </p:nvSpPr>
        <p:spPr/>
        <p:txBody>
          <a:bodyPr/>
          <a:lstStyle/>
          <a:p>
            <a:r>
              <a:rPr lang="de-DE" dirty="0"/>
              <a:t>Activity 2: Text Analysis</a:t>
            </a:r>
            <a:endParaRPr lang="en-AU" dirty="0"/>
          </a:p>
        </p:txBody>
      </p:sp>
      <p:sp>
        <p:nvSpPr>
          <p:cNvPr id="3" name="Content Placeholder 2">
            <a:extLst>
              <a:ext uri="{FF2B5EF4-FFF2-40B4-BE49-F238E27FC236}">
                <a16:creationId xmlns:a16="http://schemas.microsoft.com/office/drawing/2014/main" id="{F945FF7C-F085-49AF-C988-9E1EE27E200E}"/>
              </a:ext>
            </a:extLst>
          </p:cNvPr>
          <p:cNvSpPr>
            <a:spLocks noGrp="1"/>
          </p:cNvSpPr>
          <p:nvPr>
            <p:ph idx="1"/>
          </p:nvPr>
        </p:nvSpPr>
        <p:spPr/>
        <p:txBody>
          <a:bodyPr/>
          <a:lstStyle/>
          <a:p>
            <a:pPr marL="0" indent="0">
              <a:buNone/>
            </a:pPr>
            <a:r>
              <a:rPr lang="en-AU" dirty="0"/>
              <a:t>The king ruled the kingdom with wisdom. The queen supported diplomatic relations with neighbouring countries. Meanwhile, the doctor examined patients at the hospital, while the nurse administered medications. The engineer designed the new bridge, and the teacher prepared lessons for the students.</a:t>
            </a:r>
          </a:p>
          <a:p>
            <a:pPr lvl="0"/>
            <a:endParaRPr lang="en-US" dirty="0"/>
          </a:p>
          <a:p>
            <a:pPr lvl="0">
              <a:buFont typeface="Courier New" panose="02070309020205020404" pitchFamily="49" charset="0"/>
              <a:buChar char="o"/>
            </a:pPr>
            <a:r>
              <a:rPr lang="en-US" dirty="0"/>
              <a:t>Which verbs and nouns co-occur with our terms? </a:t>
            </a:r>
          </a:p>
          <a:p>
            <a:pPr lvl="0">
              <a:buFont typeface="Courier New" panose="02070309020205020404" pitchFamily="49" charset="0"/>
              <a:buChar char="o"/>
            </a:pPr>
            <a:r>
              <a:rPr lang="en-US" dirty="0"/>
              <a:t>How could this be used to determine similarity?</a:t>
            </a:r>
          </a:p>
        </p:txBody>
      </p:sp>
      <p:pic>
        <p:nvPicPr>
          <p:cNvPr id="4" name="Picture 2">
            <a:extLst>
              <a:ext uri="{FF2B5EF4-FFF2-40B4-BE49-F238E27FC236}">
                <a16:creationId xmlns:a16="http://schemas.microsoft.com/office/drawing/2014/main" id="{FD043D1C-B6A3-8A05-BF6F-EB8D89F24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994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8E31-BFA9-DB7E-7133-21326A01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00EC3-6808-7AE2-A79A-327572DBC321}"/>
              </a:ext>
            </a:extLst>
          </p:cNvPr>
          <p:cNvSpPr>
            <a:spLocks noGrp="1"/>
          </p:cNvSpPr>
          <p:nvPr>
            <p:ph type="title"/>
          </p:nvPr>
        </p:nvSpPr>
        <p:spPr/>
        <p:txBody>
          <a:bodyPr/>
          <a:lstStyle/>
          <a:p>
            <a:r>
              <a:rPr lang="de-DE" dirty="0"/>
              <a:t>Activity 2: Text Analysis</a:t>
            </a:r>
            <a:endParaRPr lang="en-AU" dirty="0"/>
          </a:p>
        </p:txBody>
      </p:sp>
      <p:sp>
        <p:nvSpPr>
          <p:cNvPr id="3" name="Content Placeholder 2">
            <a:extLst>
              <a:ext uri="{FF2B5EF4-FFF2-40B4-BE49-F238E27FC236}">
                <a16:creationId xmlns:a16="http://schemas.microsoft.com/office/drawing/2014/main" id="{1B725C9E-5879-D101-C7F6-F67B9103575C}"/>
              </a:ext>
            </a:extLst>
          </p:cNvPr>
          <p:cNvSpPr>
            <a:spLocks noGrp="1"/>
          </p:cNvSpPr>
          <p:nvPr>
            <p:ph idx="1"/>
          </p:nvPr>
        </p:nvSpPr>
        <p:spPr/>
        <p:txBody>
          <a:bodyPr/>
          <a:lstStyle/>
          <a:p>
            <a:pPr marL="0" indent="0">
              <a:buNone/>
            </a:pPr>
            <a:r>
              <a:rPr lang="en-AU" dirty="0"/>
              <a:t>The </a:t>
            </a:r>
            <a:r>
              <a:rPr lang="en-AU" b="1" dirty="0">
                <a:solidFill>
                  <a:srgbClr val="FF0000"/>
                </a:solidFill>
              </a:rPr>
              <a:t>king</a:t>
            </a:r>
            <a:r>
              <a:rPr lang="en-AU" dirty="0"/>
              <a:t> </a:t>
            </a:r>
            <a:r>
              <a:rPr lang="en-AU" b="1" dirty="0">
                <a:solidFill>
                  <a:schemeClr val="accent3"/>
                </a:solidFill>
              </a:rPr>
              <a:t>ruled</a:t>
            </a:r>
            <a:r>
              <a:rPr lang="en-AU" dirty="0"/>
              <a:t> the </a:t>
            </a:r>
            <a:r>
              <a:rPr lang="en-AU" b="1" dirty="0">
                <a:solidFill>
                  <a:schemeClr val="accent1">
                    <a:lumMod val="60000"/>
                    <a:lumOff val="40000"/>
                  </a:schemeClr>
                </a:solidFill>
              </a:rPr>
              <a:t>kingdom</a:t>
            </a:r>
            <a:r>
              <a:rPr lang="en-AU" dirty="0"/>
              <a:t> with </a:t>
            </a:r>
            <a:r>
              <a:rPr lang="en-AU" b="1" dirty="0">
                <a:solidFill>
                  <a:schemeClr val="accent1">
                    <a:lumMod val="60000"/>
                    <a:lumOff val="40000"/>
                  </a:schemeClr>
                </a:solidFill>
              </a:rPr>
              <a:t>wisdom</a:t>
            </a:r>
            <a:r>
              <a:rPr lang="en-AU" dirty="0"/>
              <a:t>. The </a:t>
            </a:r>
            <a:r>
              <a:rPr lang="en-AU" b="1" dirty="0">
                <a:solidFill>
                  <a:srgbClr val="FF0000"/>
                </a:solidFill>
              </a:rPr>
              <a:t>queen</a:t>
            </a:r>
            <a:r>
              <a:rPr lang="en-AU" dirty="0"/>
              <a:t> </a:t>
            </a:r>
            <a:r>
              <a:rPr lang="en-AU" b="1" dirty="0">
                <a:solidFill>
                  <a:schemeClr val="accent3"/>
                </a:solidFill>
              </a:rPr>
              <a:t>supported</a:t>
            </a:r>
            <a:r>
              <a:rPr lang="en-AU" dirty="0"/>
              <a:t> diplomatic </a:t>
            </a:r>
            <a:r>
              <a:rPr lang="en-AU" b="1" dirty="0">
                <a:solidFill>
                  <a:schemeClr val="accent1">
                    <a:lumMod val="60000"/>
                    <a:lumOff val="40000"/>
                  </a:schemeClr>
                </a:solidFill>
              </a:rPr>
              <a:t>relations</a:t>
            </a:r>
            <a:r>
              <a:rPr lang="en-AU" dirty="0"/>
              <a:t> with neighbouring </a:t>
            </a:r>
            <a:r>
              <a:rPr lang="en-AU" b="1" dirty="0">
                <a:solidFill>
                  <a:schemeClr val="accent1">
                    <a:lumMod val="60000"/>
                    <a:lumOff val="40000"/>
                  </a:schemeClr>
                </a:solidFill>
              </a:rPr>
              <a:t>countries</a:t>
            </a:r>
            <a:r>
              <a:rPr lang="en-AU" dirty="0"/>
              <a:t>. Meanwhile, the </a:t>
            </a:r>
            <a:r>
              <a:rPr lang="en-AU" b="1" dirty="0">
                <a:solidFill>
                  <a:srgbClr val="FF0000"/>
                </a:solidFill>
              </a:rPr>
              <a:t>doctor</a:t>
            </a:r>
            <a:r>
              <a:rPr lang="en-AU" dirty="0"/>
              <a:t> </a:t>
            </a:r>
            <a:r>
              <a:rPr lang="en-AU" b="1" dirty="0">
                <a:solidFill>
                  <a:schemeClr val="accent3"/>
                </a:solidFill>
              </a:rPr>
              <a:t>examined</a:t>
            </a:r>
            <a:r>
              <a:rPr lang="en-AU" dirty="0"/>
              <a:t> </a:t>
            </a:r>
            <a:r>
              <a:rPr lang="en-AU" b="1" dirty="0">
                <a:solidFill>
                  <a:schemeClr val="accent1">
                    <a:lumMod val="60000"/>
                    <a:lumOff val="40000"/>
                  </a:schemeClr>
                </a:solidFill>
              </a:rPr>
              <a:t>patients</a:t>
            </a:r>
            <a:r>
              <a:rPr lang="en-AU" dirty="0"/>
              <a:t> at the </a:t>
            </a:r>
            <a:r>
              <a:rPr lang="en-AU" b="1" dirty="0">
                <a:solidFill>
                  <a:schemeClr val="accent1">
                    <a:lumMod val="60000"/>
                    <a:lumOff val="40000"/>
                  </a:schemeClr>
                </a:solidFill>
              </a:rPr>
              <a:t>hospital</a:t>
            </a:r>
            <a:r>
              <a:rPr lang="en-AU" dirty="0"/>
              <a:t>, while the </a:t>
            </a:r>
            <a:r>
              <a:rPr lang="en-AU" b="1" dirty="0">
                <a:solidFill>
                  <a:srgbClr val="FF0000"/>
                </a:solidFill>
              </a:rPr>
              <a:t>nurse</a:t>
            </a:r>
            <a:r>
              <a:rPr lang="en-AU" dirty="0"/>
              <a:t> </a:t>
            </a:r>
            <a:r>
              <a:rPr lang="en-AU" b="1" dirty="0">
                <a:solidFill>
                  <a:schemeClr val="accent3"/>
                </a:solidFill>
              </a:rPr>
              <a:t>administered</a:t>
            </a:r>
            <a:r>
              <a:rPr lang="en-AU" dirty="0"/>
              <a:t> </a:t>
            </a:r>
            <a:r>
              <a:rPr lang="en-AU" b="1" dirty="0">
                <a:solidFill>
                  <a:schemeClr val="accent1">
                    <a:lumMod val="60000"/>
                    <a:lumOff val="40000"/>
                  </a:schemeClr>
                </a:solidFill>
              </a:rPr>
              <a:t>medications</a:t>
            </a:r>
            <a:r>
              <a:rPr lang="en-AU" dirty="0"/>
              <a:t>. The </a:t>
            </a:r>
            <a:r>
              <a:rPr lang="en-AU" b="1" dirty="0">
                <a:solidFill>
                  <a:srgbClr val="FF0000"/>
                </a:solidFill>
              </a:rPr>
              <a:t>engineer</a:t>
            </a:r>
            <a:r>
              <a:rPr lang="en-AU" dirty="0"/>
              <a:t> </a:t>
            </a:r>
            <a:r>
              <a:rPr lang="en-AU" b="1" dirty="0">
                <a:solidFill>
                  <a:schemeClr val="accent3"/>
                </a:solidFill>
              </a:rPr>
              <a:t>designed</a:t>
            </a:r>
            <a:r>
              <a:rPr lang="en-AU" dirty="0"/>
              <a:t> the new </a:t>
            </a:r>
            <a:r>
              <a:rPr lang="en-AU" b="1" dirty="0">
                <a:solidFill>
                  <a:schemeClr val="accent1">
                    <a:lumMod val="60000"/>
                    <a:lumOff val="40000"/>
                  </a:schemeClr>
                </a:solidFill>
              </a:rPr>
              <a:t>bridge</a:t>
            </a:r>
            <a:r>
              <a:rPr lang="en-AU" dirty="0"/>
              <a:t>, and the </a:t>
            </a:r>
            <a:r>
              <a:rPr lang="en-AU" b="1" dirty="0">
                <a:solidFill>
                  <a:srgbClr val="FF0000"/>
                </a:solidFill>
              </a:rPr>
              <a:t>teacher</a:t>
            </a:r>
            <a:r>
              <a:rPr lang="en-AU" dirty="0"/>
              <a:t> </a:t>
            </a:r>
            <a:r>
              <a:rPr lang="en-AU" b="1" dirty="0">
                <a:solidFill>
                  <a:schemeClr val="accent3"/>
                </a:solidFill>
              </a:rPr>
              <a:t>prepared</a:t>
            </a:r>
            <a:r>
              <a:rPr lang="en-AU" dirty="0"/>
              <a:t> </a:t>
            </a:r>
            <a:r>
              <a:rPr lang="en-AU" b="1" dirty="0">
                <a:solidFill>
                  <a:schemeClr val="accent1">
                    <a:lumMod val="60000"/>
                    <a:lumOff val="40000"/>
                  </a:schemeClr>
                </a:solidFill>
              </a:rPr>
              <a:t>lessons</a:t>
            </a:r>
            <a:r>
              <a:rPr lang="en-AU" dirty="0"/>
              <a:t> for the </a:t>
            </a:r>
            <a:r>
              <a:rPr lang="en-AU" b="1" dirty="0">
                <a:solidFill>
                  <a:schemeClr val="accent1">
                    <a:lumMod val="60000"/>
                    <a:lumOff val="40000"/>
                  </a:schemeClr>
                </a:solidFill>
              </a:rPr>
              <a:t>students</a:t>
            </a:r>
            <a:r>
              <a:rPr lang="en-AU" dirty="0"/>
              <a:t>.</a:t>
            </a:r>
          </a:p>
          <a:p>
            <a:pPr lvl="0"/>
            <a:endParaRPr lang="en-US" dirty="0"/>
          </a:p>
          <a:p>
            <a:pPr lvl="0">
              <a:buFont typeface="Courier New" panose="02070309020205020404" pitchFamily="49" charset="0"/>
              <a:buChar char="o"/>
            </a:pPr>
            <a:r>
              <a:rPr lang="en-US" dirty="0"/>
              <a:t>Which verbs and nouns co-occur with our terms? (</a:t>
            </a:r>
            <a:r>
              <a:rPr lang="en-US" b="1" dirty="0"/>
              <a:t>collocations</a:t>
            </a:r>
            <a:r>
              <a:rPr lang="en-US" dirty="0"/>
              <a:t>!)</a:t>
            </a:r>
          </a:p>
          <a:p>
            <a:pPr lvl="0">
              <a:buFont typeface="Courier New" panose="02070309020205020404" pitchFamily="49" charset="0"/>
              <a:buChar char="o"/>
            </a:pPr>
            <a:r>
              <a:rPr lang="en-US" dirty="0"/>
              <a:t>How could this be used to determine similarity?</a:t>
            </a:r>
          </a:p>
        </p:txBody>
      </p:sp>
      <p:pic>
        <p:nvPicPr>
          <p:cNvPr id="4" name="Picture 2">
            <a:extLst>
              <a:ext uri="{FF2B5EF4-FFF2-40B4-BE49-F238E27FC236}">
                <a16:creationId xmlns:a16="http://schemas.microsoft.com/office/drawing/2014/main" id="{58486731-8EFE-813E-F146-AE1C900D2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92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EB8DE-29C5-E677-4194-262A27750B63}"/>
              </a:ext>
            </a:extLst>
          </p:cNvPr>
          <p:cNvSpPr>
            <a:spLocks noGrp="1"/>
          </p:cNvSpPr>
          <p:nvPr>
            <p:ph type="title"/>
          </p:nvPr>
        </p:nvSpPr>
        <p:spPr/>
        <p:txBody>
          <a:bodyPr/>
          <a:lstStyle/>
          <a:p>
            <a:r>
              <a:rPr lang="de-DE" dirty="0"/>
              <a:t>From Collocations to Word Embeddings</a:t>
            </a:r>
            <a:endParaRPr lang="en-AU" dirty="0"/>
          </a:p>
        </p:txBody>
      </p:sp>
      <p:sp>
        <p:nvSpPr>
          <p:cNvPr id="3" name="Content Placeholder 2">
            <a:extLst>
              <a:ext uri="{FF2B5EF4-FFF2-40B4-BE49-F238E27FC236}">
                <a16:creationId xmlns:a16="http://schemas.microsoft.com/office/drawing/2014/main" id="{067CC0D5-ECA4-C966-B89D-ADB828C0A5B2}"/>
              </a:ext>
            </a:extLst>
          </p:cNvPr>
          <p:cNvSpPr>
            <a:spLocks noGrp="1"/>
          </p:cNvSpPr>
          <p:nvPr>
            <p:ph idx="1"/>
          </p:nvPr>
        </p:nvSpPr>
        <p:spPr/>
        <p:txBody>
          <a:bodyPr/>
          <a:lstStyle/>
          <a:p>
            <a:pPr marL="0" indent="0">
              <a:buNone/>
            </a:pPr>
            <a:r>
              <a:rPr lang="en-AU" dirty="0"/>
              <a:t>Have a look at the table which shows co-occurrence frequencies of words in the British National Corpus (a large collection of texts deemed representative of British English).</a:t>
            </a:r>
          </a:p>
          <a:p>
            <a:endParaRPr lang="en-US" dirty="0"/>
          </a:p>
          <a:p>
            <a:r>
              <a:rPr lang="en-US" dirty="0"/>
              <a:t>What word is missing?</a:t>
            </a:r>
          </a:p>
          <a:p>
            <a:r>
              <a:rPr lang="en-US" dirty="0"/>
              <a:t>How did you determine </a:t>
            </a:r>
            <a:br>
              <a:rPr lang="en-US" dirty="0"/>
            </a:br>
            <a:r>
              <a:rPr lang="en-US" dirty="0"/>
              <a:t>which word is missing?</a:t>
            </a:r>
          </a:p>
          <a:p>
            <a:endParaRPr lang="en-AU" dirty="0"/>
          </a:p>
        </p:txBody>
      </p:sp>
      <p:pic>
        <p:nvPicPr>
          <p:cNvPr id="4" name="Picture 2">
            <a:extLst>
              <a:ext uri="{FF2B5EF4-FFF2-40B4-BE49-F238E27FC236}">
                <a16:creationId xmlns:a16="http://schemas.microsoft.com/office/drawing/2014/main" id="{D8071899-A7F1-2B27-262D-F8240C0AC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4">
            <a:extLst>
              <a:ext uri="{FF2B5EF4-FFF2-40B4-BE49-F238E27FC236}">
                <a16:creationId xmlns:a16="http://schemas.microsoft.com/office/drawing/2014/main" id="{CA365AAD-9878-273D-3AE2-FDA407CEB5A9}"/>
              </a:ext>
            </a:extLst>
          </p:cNvPr>
          <p:cNvGraphicFramePr>
            <a:graphicFrameLocks/>
          </p:cNvGraphicFramePr>
          <p:nvPr>
            <p:extLst>
              <p:ext uri="{D42A27DB-BD31-4B8C-83A1-F6EECF244321}">
                <p14:modId xmlns:p14="http://schemas.microsoft.com/office/powerpoint/2010/main" val="2585219057"/>
              </p:ext>
            </p:extLst>
          </p:nvPr>
        </p:nvGraphicFramePr>
        <p:xfrm>
          <a:off x="5033406" y="3613758"/>
          <a:ext cx="6851737" cy="2746332"/>
        </p:xfrm>
        <a:graphic>
          <a:graphicData uri="http://schemas.openxmlformats.org/drawingml/2006/table">
            <a:tbl>
              <a:tblPr>
                <a:tableStyleId>{5C22544A-7EE6-4342-B048-85BDC9FD1C3A}</a:tableStyleId>
              </a:tblPr>
              <a:tblGrid>
                <a:gridCol w="1360270">
                  <a:extLst>
                    <a:ext uri="{9D8B030D-6E8A-4147-A177-3AD203B41FA5}">
                      <a16:colId xmlns:a16="http://schemas.microsoft.com/office/drawing/2014/main" val="2547245946"/>
                    </a:ext>
                  </a:extLst>
                </a:gridCol>
                <a:gridCol w="957229">
                  <a:extLst>
                    <a:ext uri="{9D8B030D-6E8A-4147-A177-3AD203B41FA5}">
                      <a16:colId xmlns:a16="http://schemas.microsoft.com/office/drawing/2014/main" val="3149548341"/>
                    </a:ext>
                  </a:extLst>
                </a:gridCol>
                <a:gridCol w="1259510">
                  <a:extLst>
                    <a:ext uri="{9D8B030D-6E8A-4147-A177-3AD203B41FA5}">
                      <a16:colId xmlns:a16="http://schemas.microsoft.com/office/drawing/2014/main" val="3927955361"/>
                    </a:ext>
                  </a:extLst>
                </a:gridCol>
                <a:gridCol w="957229">
                  <a:extLst>
                    <a:ext uri="{9D8B030D-6E8A-4147-A177-3AD203B41FA5}">
                      <a16:colId xmlns:a16="http://schemas.microsoft.com/office/drawing/2014/main" val="3121140626"/>
                    </a:ext>
                  </a:extLst>
                </a:gridCol>
                <a:gridCol w="1360270">
                  <a:extLst>
                    <a:ext uri="{9D8B030D-6E8A-4147-A177-3AD203B41FA5}">
                      <a16:colId xmlns:a16="http://schemas.microsoft.com/office/drawing/2014/main" val="3559910634"/>
                    </a:ext>
                  </a:extLst>
                </a:gridCol>
                <a:gridCol w="957229">
                  <a:extLst>
                    <a:ext uri="{9D8B030D-6E8A-4147-A177-3AD203B41FA5}">
                      <a16:colId xmlns:a16="http://schemas.microsoft.com/office/drawing/2014/main" val="810315035"/>
                    </a:ext>
                  </a:extLst>
                </a:gridCol>
              </a:tblGrid>
              <a:tr h="457722">
                <a:tc>
                  <a:txBody>
                    <a:bodyPr/>
                    <a:lstStyle/>
                    <a:p>
                      <a:pPr algn="ctr" fontAlgn="b">
                        <a:buNone/>
                      </a:pP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b="1" u="none" strike="noStrike" dirty="0">
                          <a:effectLst/>
                        </a:rPr>
                        <a:t>cut</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b="1" u="none" strike="noStrike" dirty="0">
                          <a:effectLst/>
                        </a:rPr>
                        <a:t>walk</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b="1" u="none" strike="noStrike" dirty="0">
                          <a:effectLst/>
                        </a:rPr>
                        <a:t>eat</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b="1" u="none" strike="noStrike" dirty="0">
                          <a:effectLst/>
                        </a:rPr>
                        <a:t>drink</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b="1" u="none" strike="noStrike" dirty="0">
                          <a:effectLst/>
                        </a:rPr>
                        <a:t>pet</a:t>
                      </a:r>
                      <a:endParaRPr lang="en-AU" sz="2400" b="1"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490863301"/>
                  </a:ext>
                </a:extLst>
              </a:tr>
              <a:tr h="457722">
                <a:tc>
                  <a:txBody>
                    <a:bodyPr/>
                    <a:lstStyle/>
                    <a:p>
                      <a:pPr algn="ctr" fontAlgn="b">
                        <a:buNone/>
                      </a:pPr>
                      <a:r>
                        <a:rPr lang="en-AU" sz="2400" b="1" u="none" strike="noStrike" dirty="0">
                          <a:effectLst/>
                        </a:rPr>
                        <a:t>cat</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1</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18</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12</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3</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40</a:t>
                      </a:r>
                      <a:endParaRPr lang="en-AU" sz="24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717852638"/>
                  </a:ext>
                </a:extLst>
              </a:tr>
              <a:tr h="457722">
                <a:tc>
                  <a:txBody>
                    <a:bodyPr/>
                    <a:lstStyle/>
                    <a:p>
                      <a:pPr algn="ctr" fontAlgn="b">
                        <a:buNone/>
                      </a:pPr>
                      <a:r>
                        <a:rPr lang="en-AU" sz="2400" b="1" u="none" strike="noStrike" dirty="0">
                          <a:effectLst/>
                        </a:rPr>
                        <a:t>???</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1</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25</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10</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4</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55</a:t>
                      </a:r>
                      <a:endParaRPr lang="en-AU" sz="2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327985808"/>
                  </a:ext>
                </a:extLst>
              </a:tr>
              <a:tr h="457722">
                <a:tc>
                  <a:txBody>
                    <a:bodyPr/>
                    <a:lstStyle/>
                    <a:p>
                      <a:pPr algn="ctr" fontAlgn="b">
                        <a:buNone/>
                      </a:pPr>
                      <a:r>
                        <a:rPr lang="en-AU" sz="2400" b="1" u="none" strike="noStrike" dirty="0">
                          <a:effectLst/>
                        </a:rPr>
                        <a:t>knife</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35</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0</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15</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5</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0</a:t>
                      </a:r>
                      <a:endParaRPr lang="en-AU" sz="2400" b="0" i="0" u="none" strike="noStrike">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822769141"/>
                  </a:ext>
                </a:extLst>
              </a:tr>
              <a:tr h="457722">
                <a:tc>
                  <a:txBody>
                    <a:bodyPr/>
                    <a:lstStyle/>
                    <a:p>
                      <a:pPr algn="ctr" fontAlgn="b">
                        <a:buNone/>
                      </a:pPr>
                      <a:r>
                        <a:rPr lang="en-AU" sz="2400" b="1" u="none" strike="noStrike" dirty="0">
                          <a:effectLst/>
                        </a:rPr>
                        <a:t>table</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12</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1</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40</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35</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0</a:t>
                      </a:r>
                      <a:endParaRPr lang="en-AU" sz="24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712826613"/>
                  </a:ext>
                </a:extLst>
              </a:tr>
              <a:tr h="457722">
                <a:tc>
                  <a:txBody>
                    <a:bodyPr/>
                    <a:lstStyle/>
                    <a:p>
                      <a:pPr algn="ctr" fontAlgn="b">
                        <a:buNone/>
                      </a:pPr>
                      <a:r>
                        <a:rPr lang="en-AU" sz="2400" b="1" u="none" strike="noStrike" dirty="0">
                          <a:effectLst/>
                        </a:rPr>
                        <a:t>pig</a:t>
                      </a:r>
                      <a:endParaRPr lang="en-AU" sz="2400" b="1"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20</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3</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a:effectLst/>
                        </a:rPr>
                        <a:t>45</a:t>
                      </a:r>
                      <a:endParaRPr lang="en-AU" sz="24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10</a:t>
                      </a:r>
                      <a:endParaRPr lang="en-AU" sz="24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buNone/>
                      </a:pPr>
                      <a:r>
                        <a:rPr lang="en-AU" sz="2400" u="none" strike="noStrike" dirty="0">
                          <a:effectLst/>
                        </a:rPr>
                        <a:t>0</a:t>
                      </a:r>
                      <a:endParaRPr lang="en-AU" sz="24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1545663147"/>
                  </a:ext>
                </a:extLst>
              </a:tr>
            </a:tbl>
          </a:graphicData>
        </a:graphic>
      </p:graphicFrame>
    </p:spTree>
    <p:extLst>
      <p:ext uri="{BB962C8B-B14F-4D97-AF65-F5344CB8AC3E}">
        <p14:creationId xmlns:p14="http://schemas.microsoft.com/office/powerpoint/2010/main" val="3922536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95F7-2E92-1674-7B62-84C31E818D50}"/>
              </a:ext>
            </a:extLst>
          </p:cNvPr>
          <p:cNvSpPr>
            <a:spLocks noGrp="1"/>
          </p:cNvSpPr>
          <p:nvPr>
            <p:ph type="title"/>
          </p:nvPr>
        </p:nvSpPr>
        <p:spPr/>
        <p:txBody>
          <a:bodyPr/>
          <a:lstStyle/>
          <a:p>
            <a:r>
              <a:rPr lang="de-DE" dirty="0"/>
              <a:t>From Collocations to Word Embeddings</a:t>
            </a:r>
            <a:endParaRPr lang="en-AU" dirty="0"/>
          </a:p>
        </p:txBody>
      </p:sp>
      <p:sp>
        <p:nvSpPr>
          <p:cNvPr id="3" name="Content Placeholder 2">
            <a:extLst>
              <a:ext uri="{FF2B5EF4-FFF2-40B4-BE49-F238E27FC236}">
                <a16:creationId xmlns:a16="http://schemas.microsoft.com/office/drawing/2014/main" id="{6D52ACC4-3AF6-9BB1-037C-CB8A53762A45}"/>
              </a:ext>
            </a:extLst>
          </p:cNvPr>
          <p:cNvSpPr>
            <a:spLocks noGrp="1"/>
          </p:cNvSpPr>
          <p:nvPr>
            <p:ph idx="1"/>
          </p:nvPr>
        </p:nvSpPr>
        <p:spPr>
          <a:xfrm>
            <a:off x="838200" y="1825624"/>
            <a:ext cx="10515600" cy="5032375"/>
          </a:xfrm>
        </p:spPr>
        <p:txBody>
          <a:bodyPr>
            <a:normAutofit fontScale="92500"/>
          </a:bodyPr>
          <a:lstStyle/>
          <a:p>
            <a:pPr marL="0" indent="0">
              <a:buNone/>
            </a:pPr>
            <a:r>
              <a:rPr lang="en-US" dirty="0"/>
              <a:t>Word embeddings are based on a linguistic theory (distributional semantics) proposed by J. R. Firth in the 1950s: “</a:t>
            </a:r>
            <a:r>
              <a:rPr lang="en-US" b="1" dirty="0"/>
              <a:t>You shall know a word by the company it keeps</a:t>
            </a:r>
            <a:r>
              <a:rPr lang="en-US" dirty="0"/>
              <a:t>.” </a:t>
            </a:r>
          </a:p>
          <a:p>
            <a:pPr marL="0" indent="0">
              <a:buNone/>
            </a:pPr>
            <a:r>
              <a:rPr lang="en-US" dirty="0">
                <a:solidFill>
                  <a:srgbClr val="C00000"/>
                </a:solidFill>
              </a:rPr>
              <a:t>What does this mean? </a:t>
            </a:r>
          </a:p>
          <a:p>
            <a:pPr marL="0" indent="0">
              <a:buNone/>
            </a:pPr>
            <a:r>
              <a:rPr lang="en-US" dirty="0"/>
              <a:t>Distributional semantics: The meaning of a word emerges from the contexts in which it appears.</a:t>
            </a:r>
          </a:p>
          <a:p>
            <a:pPr marL="0" indent="0">
              <a:buNone/>
            </a:pPr>
            <a:r>
              <a:rPr lang="en-US" dirty="0"/>
              <a:t>AI systems analyze billions of sentences and learn which words appear in similar contexts. This information is stored in strings of numbers (called word vectors or </a:t>
            </a:r>
            <a:r>
              <a:rPr lang="en-US" dirty="0">
                <a:solidFill>
                  <a:srgbClr val="C00000"/>
                </a:solidFill>
              </a:rPr>
              <a:t>word embeddings</a:t>
            </a:r>
            <a:r>
              <a:rPr lang="en-US" dirty="0"/>
              <a:t>). </a:t>
            </a:r>
          </a:p>
          <a:p>
            <a:pPr marL="0" indent="0">
              <a:buNone/>
            </a:pPr>
            <a:r>
              <a:rPr lang="en-US" dirty="0"/>
              <a:t>The fascinating part is that these word embeddings encode meaning (semantics) and can even represent analogies: the relationship </a:t>
            </a:r>
            <a:r>
              <a:rPr lang="en-US" i="1" dirty="0"/>
              <a:t>king → queen</a:t>
            </a:r>
            <a:r>
              <a:rPr lang="en-US" dirty="0"/>
              <a:t> is similar to the relationship </a:t>
            </a:r>
            <a:r>
              <a:rPr lang="en-US" i="1" dirty="0"/>
              <a:t>man → woman</a:t>
            </a:r>
            <a:r>
              <a:rPr lang="en-US" dirty="0"/>
              <a:t>.</a:t>
            </a:r>
          </a:p>
        </p:txBody>
      </p:sp>
      <p:pic>
        <p:nvPicPr>
          <p:cNvPr id="4" name="Picture 2">
            <a:extLst>
              <a:ext uri="{FF2B5EF4-FFF2-40B4-BE49-F238E27FC236}">
                <a16:creationId xmlns:a16="http://schemas.microsoft.com/office/drawing/2014/main" id="{EA8EC399-0AD4-AA98-A506-755E68947C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9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1F12E-EA46-A2A3-3775-0FD782A1593D}"/>
              </a:ext>
            </a:extLst>
          </p:cNvPr>
          <p:cNvSpPr>
            <a:spLocks noGrp="1"/>
          </p:cNvSpPr>
          <p:nvPr>
            <p:ph type="title"/>
          </p:nvPr>
        </p:nvSpPr>
        <p:spPr/>
        <p:txBody>
          <a:bodyPr/>
          <a:lstStyle/>
          <a:p>
            <a:r>
              <a:rPr lang="de-DE" dirty="0"/>
              <a:t>What are word embeddings?</a:t>
            </a:r>
            <a:endParaRPr lang="en-AU" dirty="0"/>
          </a:p>
        </p:txBody>
      </p:sp>
      <p:pic>
        <p:nvPicPr>
          <p:cNvPr id="4" name="Picture 2">
            <a:extLst>
              <a:ext uri="{FF2B5EF4-FFF2-40B4-BE49-F238E27FC236}">
                <a16:creationId xmlns:a16="http://schemas.microsoft.com/office/drawing/2014/main" id="{0F1C7AF1-9F77-F9F7-6BB5-5FF65730D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1E9E67F-6DCA-C719-0E2C-B4391E507FBA}"/>
              </a:ext>
            </a:extLst>
          </p:cNvPr>
          <p:cNvPicPr>
            <a:picLocks noChangeAspect="1"/>
          </p:cNvPicPr>
          <p:nvPr/>
        </p:nvPicPr>
        <p:blipFill>
          <a:blip r:embed="rId3"/>
          <a:stretch>
            <a:fillRect/>
          </a:stretch>
        </p:blipFill>
        <p:spPr>
          <a:xfrm>
            <a:off x="838199" y="1288905"/>
            <a:ext cx="10000129" cy="5529268"/>
          </a:xfrm>
          <a:prstGeom prst="rect">
            <a:avLst/>
          </a:prstGeom>
        </p:spPr>
      </p:pic>
    </p:spTree>
    <p:extLst>
      <p:ext uri="{BB962C8B-B14F-4D97-AF65-F5344CB8AC3E}">
        <p14:creationId xmlns:p14="http://schemas.microsoft.com/office/powerpoint/2010/main" val="27595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59EC-028D-BFD1-11AB-EC20A4FD0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49D73-BD1C-1263-686A-28624BF443E1}"/>
              </a:ext>
            </a:extLst>
          </p:cNvPr>
          <p:cNvSpPr>
            <a:spLocks noGrp="1"/>
          </p:cNvSpPr>
          <p:nvPr>
            <p:ph type="title"/>
          </p:nvPr>
        </p:nvSpPr>
        <p:spPr/>
        <p:txBody>
          <a:bodyPr/>
          <a:lstStyle/>
          <a:p>
            <a:r>
              <a:rPr lang="de-DE" dirty="0"/>
              <a:t>Spatial/Visual Representation of Word Embeddings</a:t>
            </a:r>
            <a:endParaRPr lang="en-AU" dirty="0"/>
          </a:p>
        </p:txBody>
      </p:sp>
      <p:pic>
        <p:nvPicPr>
          <p:cNvPr id="2050" name="Picture 2" descr="blog_image_8556">
            <a:extLst>
              <a:ext uri="{FF2B5EF4-FFF2-40B4-BE49-F238E27FC236}">
                <a16:creationId xmlns:a16="http://schemas.microsoft.com/office/drawing/2014/main" id="{6BF7BBE4-3D08-A230-F160-E9B520B64B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0" y="0"/>
            <a:ext cx="115554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540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96B9-9910-7DB2-369D-A87C2A535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1531C-EFDA-D821-FC37-FE8907378699}"/>
              </a:ext>
            </a:extLst>
          </p:cNvPr>
          <p:cNvSpPr>
            <a:spLocks noGrp="1"/>
          </p:cNvSpPr>
          <p:nvPr>
            <p:ph type="title"/>
          </p:nvPr>
        </p:nvSpPr>
        <p:spPr>
          <a:xfrm>
            <a:off x="838200" y="365125"/>
            <a:ext cx="9633559" cy="1325563"/>
          </a:xfrm>
        </p:spPr>
        <p:txBody>
          <a:bodyPr>
            <a:normAutofit/>
          </a:bodyPr>
          <a:lstStyle/>
          <a:p>
            <a:r>
              <a:rPr lang="de-DE" dirty="0"/>
              <a:t>Activity 3: Word Embeddings in ESL/EFL</a:t>
            </a:r>
            <a:endParaRPr lang="en-AU" dirty="0"/>
          </a:p>
        </p:txBody>
      </p:sp>
      <p:sp>
        <p:nvSpPr>
          <p:cNvPr id="3" name="Content Placeholder 2">
            <a:extLst>
              <a:ext uri="{FF2B5EF4-FFF2-40B4-BE49-F238E27FC236}">
                <a16:creationId xmlns:a16="http://schemas.microsoft.com/office/drawing/2014/main" id="{38459097-7066-0674-2098-EDF1608163B5}"/>
              </a:ext>
            </a:extLst>
          </p:cNvPr>
          <p:cNvSpPr>
            <a:spLocks noGrp="1"/>
          </p:cNvSpPr>
          <p:nvPr>
            <p:ph idx="1"/>
          </p:nvPr>
        </p:nvSpPr>
        <p:spPr>
          <a:xfrm>
            <a:off x="838200" y="1825625"/>
            <a:ext cx="11111630" cy="4351338"/>
          </a:xfrm>
        </p:spPr>
        <p:txBody>
          <a:bodyPr>
            <a:normAutofit fontScale="92500" lnSpcReduction="10000"/>
          </a:bodyPr>
          <a:lstStyle/>
          <a:p>
            <a:pPr marL="0" indent="0">
              <a:buNone/>
            </a:pPr>
            <a:r>
              <a:rPr lang="en-AU" dirty="0"/>
              <a:t>YOUR TASK (Time: 2 minutes ) </a:t>
            </a:r>
          </a:p>
          <a:p>
            <a:pPr marL="0" indent="0">
              <a:buNone/>
            </a:pPr>
            <a:r>
              <a:rPr lang="en-US" dirty="0"/>
              <a:t>As English teachers, you will be working with AI tools—whether in lesson planning or when students use them. </a:t>
            </a:r>
          </a:p>
          <a:p>
            <a:pPr marL="0" indent="0">
              <a:buNone/>
            </a:pPr>
            <a:r>
              <a:rPr lang="en-US" dirty="0"/>
              <a:t>What do our insights into word embeddings mean for you as future teachers?</a:t>
            </a:r>
          </a:p>
          <a:p>
            <a:pPr marL="0" indent="0">
              <a:buNone/>
            </a:pPr>
            <a:endParaRPr lang="en-US" dirty="0"/>
          </a:p>
          <a:p>
            <a:pPr marL="0" indent="0">
              <a:buNone/>
            </a:pPr>
            <a:r>
              <a:rPr lang="en-US" dirty="0"/>
              <a:t>Form pairs and think about:</a:t>
            </a:r>
          </a:p>
          <a:p>
            <a:pPr>
              <a:buFont typeface="Courier New" panose="02070309020205020404" pitchFamily="49" charset="0"/>
              <a:buChar char="o"/>
            </a:pPr>
            <a:r>
              <a:rPr lang="en-US" dirty="0"/>
              <a:t>How could semantic relationships be taught to students?</a:t>
            </a:r>
          </a:p>
          <a:p>
            <a:pPr>
              <a:buFont typeface="Courier New" panose="02070309020205020404" pitchFamily="49" charset="0"/>
              <a:buChar char="o"/>
            </a:pPr>
            <a:r>
              <a:rPr lang="en-US" dirty="0"/>
              <a:t>Could word embeddings be used as a tool for vocabulary learning?</a:t>
            </a:r>
          </a:p>
          <a:p>
            <a:pPr>
              <a:buFont typeface="Courier New" panose="02070309020205020404" pitchFamily="49" charset="0"/>
              <a:buChar char="o"/>
            </a:pPr>
            <a:r>
              <a:rPr lang="en-US" dirty="0"/>
              <a:t>How can we explain that AI does not understand “real” meaning, but rather patterns?</a:t>
            </a:r>
          </a:p>
        </p:txBody>
      </p:sp>
      <p:pic>
        <p:nvPicPr>
          <p:cNvPr id="4" name="Picture 2">
            <a:extLst>
              <a:ext uri="{FF2B5EF4-FFF2-40B4-BE49-F238E27FC236}">
                <a16:creationId xmlns:a16="http://schemas.microsoft.com/office/drawing/2014/main" id="{814A33BA-BE7D-715A-1CFD-D4B516D13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961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383A7-26A3-E9A1-DA42-AA9712151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D176F-E3C9-FB00-53B8-CA1D28010A3E}"/>
              </a:ext>
            </a:extLst>
          </p:cNvPr>
          <p:cNvSpPr>
            <a:spLocks noGrp="1"/>
          </p:cNvSpPr>
          <p:nvPr>
            <p:ph type="title"/>
          </p:nvPr>
        </p:nvSpPr>
        <p:spPr>
          <a:xfrm>
            <a:off x="838200" y="365125"/>
            <a:ext cx="9633559" cy="1325563"/>
          </a:xfrm>
        </p:spPr>
        <p:txBody>
          <a:bodyPr>
            <a:normAutofit/>
          </a:bodyPr>
          <a:lstStyle/>
          <a:p>
            <a:r>
              <a:rPr lang="de-DE" dirty="0"/>
              <a:t>Wrap Up</a:t>
            </a:r>
            <a:endParaRPr lang="en-AU" dirty="0"/>
          </a:p>
        </p:txBody>
      </p:sp>
      <p:sp>
        <p:nvSpPr>
          <p:cNvPr id="3" name="Content Placeholder 2">
            <a:extLst>
              <a:ext uri="{FF2B5EF4-FFF2-40B4-BE49-F238E27FC236}">
                <a16:creationId xmlns:a16="http://schemas.microsoft.com/office/drawing/2014/main" id="{46CB4F48-3639-5568-4C3E-7E96037AD39E}"/>
              </a:ext>
            </a:extLst>
          </p:cNvPr>
          <p:cNvSpPr>
            <a:spLocks noGrp="1"/>
          </p:cNvSpPr>
          <p:nvPr>
            <p:ph idx="1"/>
          </p:nvPr>
        </p:nvSpPr>
        <p:spPr>
          <a:xfrm>
            <a:off x="838200" y="1825625"/>
            <a:ext cx="11111630" cy="4351338"/>
          </a:xfrm>
        </p:spPr>
        <p:txBody>
          <a:bodyPr>
            <a:normAutofit/>
          </a:bodyPr>
          <a:lstStyle/>
          <a:p>
            <a:pPr marL="0" indent="0">
              <a:buNone/>
            </a:pPr>
            <a:r>
              <a:rPr lang="en-US" dirty="0"/>
              <a:t>Word embeddings are numeric representations of words.</a:t>
            </a:r>
          </a:p>
          <a:p>
            <a:pPr marL="0" indent="0">
              <a:buNone/>
            </a:pPr>
            <a:r>
              <a:rPr lang="en-US" dirty="0"/>
              <a:t>The numbers represent co-occurrence (distributional semantics, Firth)</a:t>
            </a:r>
          </a:p>
          <a:p>
            <a:pPr marL="0" indent="0">
              <a:buNone/>
            </a:pPr>
            <a:r>
              <a:rPr lang="en-US" i="1" dirty="0">
                <a:solidFill>
                  <a:srgbClr val="C00000"/>
                </a:solidFill>
              </a:rPr>
              <a:t>Doctor</a:t>
            </a:r>
            <a:r>
              <a:rPr lang="en-US" dirty="0"/>
              <a:t>: often co-occurs with </a:t>
            </a:r>
            <a:r>
              <a:rPr lang="en-US" i="1" dirty="0">
                <a:solidFill>
                  <a:schemeClr val="tx2">
                    <a:lumMod val="50000"/>
                    <a:lumOff val="50000"/>
                  </a:schemeClr>
                </a:solidFill>
              </a:rPr>
              <a:t>hospital</a:t>
            </a:r>
            <a:r>
              <a:rPr lang="en-US" dirty="0"/>
              <a:t>, </a:t>
            </a:r>
            <a:r>
              <a:rPr lang="en-US" i="1" dirty="0">
                <a:solidFill>
                  <a:schemeClr val="tx2">
                    <a:lumMod val="50000"/>
                    <a:lumOff val="50000"/>
                  </a:schemeClr>
                </a:solidFill>
              </a:rPr>
              <a:t>patient</a:t>
            </a:r>
            <a:r>
              <a:rPr lang="en-US" dirty="0"/>
              <a:t>, </a:t>
            </a:r>
            <a:r>
              <a:rPr lang="en-US" i="1" dirty="0">
                <a:solidFill>
                  <a:schemeClr val="tx2">
                    <a:lumMod val="50000"/>
                    <a:lumOff val="50000"/>
                  </a:schemeClr>
                </a:solidFill>
              </a:rPr>
              <a:t>examination</a:t>
            </a:r>
            <a:r>
              <a:rPr lang="en-US" dirty="0"/>
              <a:t>, </a:t>
            </a:r>
            <a:r>
              <a:rPr lang="en-US" i="1" dirty="0">
                <a:solidFill>
                  <a:schemeClr val="tx2">
                    <a:lumMod val="50000"/>
                    <a:lumOff val="50000"/>
                  </a:schemeClr>
                </a:solidFill>
              </a:rPr>
              <a:t>medical</a:t>
            </a:r>
            <a:r>
              <a:rPr lang="en-US" dirty="0"/>
              <a:t>.</a:t>
            </a:r>
          </a:p>
          <a:p>
            <a:pPr marL="0" indent="0">
              <a:buNone/>
            </a:pPr>
            <a:r>
              <a:rPr lang="en-US" i="1" dirty="0">
                <a:solidFill>
                  <a:srgbClr val="C00000"/>
                </a:solidFill>
              </a:rPr>
              <a:t>Teacher</a:t>
            </a:r>
            <a:r>
              <a:rPr lang="en-US" dirty="0"/>
              <a:t> often co-occurs with </a:t>
            </a:r>
            <a:r>
              <a:rPr lang="en-US" i="1" dirty="0">
                <a:solidFill>
                  <a:schemeClr val="tx2">
                    <a:lumMod val="50000"/>
                    <a:lumOff val="50000"/>
                  </a:schemeClr>
                </a:solidFill>
              </a:rPr>
              <a:t>classroom</a:t>
            </a:r>
            <a:r>
              <a:rPr lang="en-US" dirty="0"/>
              <a:t>, </a:t>
            </a:r>
            <a:r>
              <a:rPr lang="en-US" i="1" dirty="0">
                <a:solidFill>
                  <a:schemeClr val="tx2">
                    <a:lumMod val="50000"/>
                    <a:lumOff val="50000"/>
                  </a:schemeClr>
                </a:solidFill>
              </a:rPr>
              <a:t>student</a:t>
            </a:r>
            <a:r>
              <a:rPr lang="en-US" dirty="0"/>
              <a:t>, </a:t>
            </a:r>
            <a:r>
              <a:rPr lang="en-US" i="1" dirty="0">
                <a:solidFill>
                  <a:schemeClr val="tx2">
                    <a:lumMod val="50000"/>
                    <a:lumOff val="50000"/>
                  </a:schemeClr>
                </a:solidFill>
              </a:rPr>
              <a:t>lesson</a:t>
            </a:r>
            <a:r>
              <a:rPr lang="en-US" dirty="0"/>
              <a:t>, </a:t>
            </a:r>
            <a:r>
              <a:rPr lang="en-US" i="1" dirty="0">
                <a:solidFill>
                  <a:schemeClr val="tx2">
                    <a:lumMod val="50000"/>
                    <a:lumOff val="50000"/>
                  </a:schemeClr>
                </a:solidFill>
              </a:rPr>
              <a:t>education</a:t>
            </a:r>
            <a:r>
              <a:rPr lang="en-US" dirty="0"/>
              <a:t>. </a:t>
            </a:r>
          </a:p>
          <a:p>
            <a:pPr marL="0" indent="0">
              <a:buNone/>
            </a:pPr>
            <a:r>
              <a:rPr lang="en-US" dirty="0"/>
              <a:t>Because </a:t>
            </a:r>
            <a:r>
              <a:rPr lang="en-US" i="1" dirty="0"/>
              <a:t>doctor</a:t>
            </a:r>
            <a:r>
              <a:rPr lang="en-US" dirty="0"/>
              <a:t> and </a:t>
            </a:r>
            <a:r>
              <a:rPr lang="en-US" i="1" dirty="0"/>
              <a:t>teacher</a:t>
            </a:r>
            <a:r>
              <a:rPr lang="en-US" dirty="0"/>
              <a:t> are both professions and occur in similar syntactic structures, they are located relatively close to each other in embedding space—but closer to their respective semantic fields.</a:t>
            </a:r>
          </a:p>
          <a:p>
            <a:pPr marL="0" indent="0">
              <a:buNone/>
            </a:pPr>
            <a:endParaRPr lang="en-US" dirty="0"/>
          </a:p>
        </p:txBody>
      </p:sp>
      <p:pic>
        <p:nvPicPr>
          <p:cNvPr id="4" name="Picture 2">
            <a:extLst>
              <a:ext uri="{FF2B5EF4-FFF2-40B4-BE49-F238E27FC236}">
                <a16:creationId xmlns:a16="http://schemas.microsoft.com/office/drawing/2014/main" id="{4D5D9953-03B6-2A87-8BD4-9B08E2CF3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798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4315F-AF25-AD8D-317F-CEBB6A24B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3DD19-0906-6B6C-908B-9E93648FC6A1}"/>
              </a:ext>
            </a:extLst>
          </p:cNvPr>
          <p:cNvSpPr>
            <a:spLocks noGrp="1"/>
          </p:cNvSpPr>
          <p:nvPr>
            <p:ph type="title"/>
          </p:nvPr>
        </p:nvSpPr>
        <p:spPr/>
        <p:txBody>
          <a:bodyPr/>
          <a:lstStyle/>
          <a:p>
            <a:r>
              <a:rPr lang="de-DE" dirty="0"/>
              <a:t>Wrap Up</a:t>
            </a:r>
            <a:endParaRPr lang="en-AU" dirty="0"/>
          </a:p>
        </p:txBody>
      </p:sp>
      <p:pic>
        <p:nvPicPr>
          <p:cNvPr id="4" name="Picture 2">
            <a:extLst>
              <a:ext uri="{FF2B5EF4-FFF2-40B4-BE49-F238E27FC236}">
                <a16:creationId xmlns:a16="http://schemas.microsoft.com/office/drawing/2014/main" id="{0DF1AD45-4037-4158-BA08-26BAF3385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9578DA6-4094-A987-6978-ABB60DF82788}"/>
              </a:ext>
            </a:extLst>
          </p:cNvPr>
          <p:cNvPicPr>
            <a:picLocks noChangeAspect="1"/>
          </p:cNvPicPr>
          <p:nvPr/>
        </p:nvPicPr>
        <p:blipFill>
          <a:blip r:embed="rId3"/>
          <a:stretch>
            <a:fillRect/>
          </a:stretch>
        </p:blipFill>
        <p:spPr>
          <a:xfrm>
            <a:off x="838200" y="1360414"/>
            <a:ext cx="9569824" cy="5407125"/>
          </a:xfrm>
          <a:prstGeom prst="rect">
            <a:avLst/>
          </a:prstGeom>
        </p:spPr>
      </p:pic>
    </p:spTree>
    <p:extLst>
      <p:ext uri="{BB962C8B-B14F-4D97-AF65-F5344CB8AC3E}">
        <p14:creationId xmlns:p14="http://schemas.microsoft.com/office/powerpoint/2010/main" val="2785510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A075D-3C38-7FC6-6EBA-7632CC4EE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F7390-32A4-D059-E94A-AD945937057F}"/>
              </a:ext>
            </a:extLst>
          </p:cNvPr>
          <p:cNvSpPr>
            <a:spLocks noGrp="1"/>
          </p:cNvSpPr>
          <p:nvPr>
            <p:ph type="title"/>
          </p:nvPr>
        </p:nvSpPr>
        <p:spPr/>
        <p:txBody>
          <a:bodyPr>
            <a:normAutofit/>
          </a:bodyPr>
          <a:lstStyle/>
          <a:p>
            <a:r>
              <a:rPr lang="de-DE" dirty="0"/>
              <a:t>Einbettung in </a:t>
            </a:r>
            <a:r>
              <a:rPr lang="en-AU" dirty="0" err="1"/>
              <a:t>Gesamtkonzeption</a:t>
            </a:r>
            <a:r>
              <a:rPr lang="en-AU" dirty="0"/>
              <a:t> </a:t>
            </a:r>
          </a:p>
        </p:txBody>
      </p:sp>
      <p:pic>
        <p:nvPicPr>
          <p:cNvPr id="6" name="Picture 5">
            <a:extLst>
              <a:ext uri="{FF2B5EF4-FFF2-40B4-BE49-F238E27FC236}">
                <a16:creationId xmlns:a16="http://schemas.microsoft.com/office/drawing/2014/main" id="{FCE39AB3-8165-7AB7-F40D-239BC81BDFCB}"/>
              </a:ext>
            </a:extLst>
          </p:cNvPr>
          <p:cNvPicPr>
            <a:picLocks noChangeAspect="1"/>
          </p:cNvPicPr>
          <p:nvPr/>
        </p:nvPicPr>
        <p:blipFill>
          <a:blip r:embed="rId2"/>
          <a:stretch>
            <a:fillRect/>
          </a:stretch>
        </p:blipFill>
        <p:spPr>
          <a:xfrm>
            <a:off x="594463" y="1441494"/>
            <a:ext cx="11435611" cy="5398177"/>
          </a:xfrm>
          <a:prstGeom prst="rect">
            <a:avLst/>
          </a:prstGeom>
        </p:spPr>
      </p:pic>
      <p:pic>
        <p:nvPicPr>
          <p:cNvPr id="4" name="Picture 2">
            <a:extLst>
              <a:ext uri="{FF2B5EF4-FFF2-40B4-BE49-F238E27FC236}">
                <a16:creationId xmlns:a16="http://schemas.microsoft.com/office/drawing/2014/main" id="{C16F059B-1344-8204-0966-50F5F6B65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9351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25B4F-5705-7118-73EE-8C584895E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93790-FAA3-B045-8AC8-BF52D0724722}"/>
              </a:ext>
            </a:extLst>
          </p:cNvPr>
          <p:cNvSpPr>
            <a:spLocks noGrp="1"/>
          </p:cNvSpPr>
          <p:nvPr>
            <p:ph type="title"/>
          </p:nvPr>
        </p:nvSpPr>
        <p:spPr/>
        <p:txBody>
          <a:bodyPr>
            <a:normAutofit fontScale="90000"/>
          </a:bodyPr>
          <a:lstStyle/>
          <a:p>
            <a:r>
              <a:rPr lang="de-DE" dirty="0"/>
              <a:t>Seminarstruktur &amp; Progression</a:t>
            </a:r>
            <a:br>
              <a:rPr lang="de-DE" dirty="0"/>
            </a:br>
            <a:r>
              <a:rPr lang="de-DE" dirty="0"/>
              <a:t>Von linguistischen Grundlagen zu kritischer </a:t>
            </a:r>
            <a:br>
              <a:rPr lang="de-DE" dirty="0"/>
            </a:br>
            <a:r>
              <a:rPr lang="de-DE" dirty="0"/>
              <a:t>KI-Analyse</a:t>
            </a:r>
            <a:endParaRPr lang="en-AU" dirty="0"/>
          </a:p>
        </p:txBody>
      </p:sp>
      <p:pic>
        <p:nvPicPr>
          <p:cNvPr id="5" name="Picture 4">
            <a:extLst>
              <a:ext uri="{FF2B5EF4-FFF2-40B4-BE49-F238E27FC236}">
                <a16:creationId xmlns:a16="http://schemas.microsoft.com/office/drawing/2014/main" id="{689A12F3-71E9-DA43-1DD4-04EA5725C6B8}"/>
              </a:ext>
            </a:extLst>
          </p:cNvPr>
          <p:cNvPicPr>
            <a:picLocks noChangeAspect="1"/>
          </p:cNvPicPr>
          <p:nvPr/>
        </p:nvPicPr>
        <p:blipFill>
          <a:blip r:embed="rId2"/>
          <a:stretch>
            <a:fillRect/>
          </a:stretch>
        </p:blipFill>
        <p:spPr>
          <a:xfrm>
            <a:off x="3121819" y="1292064"/>
            <a:ext cx="7743826" cy="5445976"/>
          </a:xfrm>
          <a:prstGeom prst="rect">
            <a:avLst/>
          </a:prstGeom>
        </p:spPr>
      </p:pic>
      <p:pic>
        <p:nvPicPr>
          <p:cNvPr id="4" name="Picture 2">
            <a:extLst>
              <a:ext uri="{FF2B5EF4-FFF2-40B4-BE49-F238E27FC236}">
                <a16:creationId xmlns:a16="http://schemas.microsoft.com/office/drawing/2014/main" id="{CEB4AA64-7157-4CB5-A7F3-9FA822BEC6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7488" y="18329"/>
            <a:ext cx="1584512" cy="1581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9698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877</TotalTime>
  <Words>715</Words>
  <Application>Microsoft Office PowerPoint</Application>
  <PresentationFormat>Widescreen</PresentationFormat>
  <Paragraphs>91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Aptos Narrow</vt:lpstr>
      <vt:lpstr>Arial</vt:lpstr>
      <vt:lpstr>Courier New</vt:lpstr>
      <vt:lpstr>Office Theme</vt:lpstr>
      <vt:lpstr>Word Embeddings: How AI Learns Word Meanings Linguistics II – Aufbaumodul 1 </vt:lpstr>
      <vt:lpstr>Activity 1: Semantic Similarity</vt:lpstr>
      <vt:lpstr>Activity 2: Text Analysis</vt:lpstr>
      <vt:lpstr>Activity 2: Text Analysis</vt:lpstr>
      <vt:lpstr>Activity 2: Text Analysis</vt:lpstr>
      <vt:lpstr>From Collocations to Word Embeddings</vt:lpstr>
      <vt:lpstr>From Collocations to Word Embeddings</vt:lpstr>
      <vt:lpstr>What are word embeddings?</vt:lpstr>
      <vt:lpstr>Spatial/Visual Representation of Word Embeddings</vt:lpstr>
      <vt:lpstr>Activity 3: Word Embeddings in ESL/EFL</vt:lpstr>
      <vt:lpstr>Wrap Up</vt:lpstr>
      <vt:lpstr>Wrap Up</vt:lpstr>
      <vt:lpstr>Einbettung in Gesamtkonzeption </vt:lpstr>
      <vt:lpstr>Seminarstruktur &amp; Progression Von linguistischen Grundlagen zu kritischer  KI-Analyse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Martin Schweinberger</dc:creator>
  <cp:lastModifiedBy>Martin Schweinberger</cp:lastModifiedBy>
  <cp:revision>1</cp:revision>
  <dcterms:created xsi:type="dcterms:W3CDTF">2026-01-14T12:27:18Z</dcterms:created>
  <dcterms:modified xsi:type="dcterms:W3CDTF">2026-01-17T15:10:46Z</dcterms:modified>
</cp:coreProperties>
</file>